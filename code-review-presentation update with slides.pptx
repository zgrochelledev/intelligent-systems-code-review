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9" r:id="rId2"/>
    <p:sldId id="267" r:id="rId3"/>
    <p:sldId id="266" r:id="rId4"/>
    <p:sldId id="270" r:id="rId5"/>
    <p:sldId id="265" r:id="rId6"/>
    <p:sldId id="260" r:id="rId7"/>
    <p:sldId id="261" r:id="rId8"/>
    <p:sldId id="268" r:id="rId9"/>
    <p:sldId id="271" r:id="rId10"/>
    <p:sldId id="269" r:id="rId11"/>
    <p:sldId id="263" r:id="rId12"/>
    <p:sldId id="264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9097E38-CE9F-94DD-933C-5950183B61F4}" name="Zoe Rochelle II" initials="ZI" userId="1479fce0824242b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4B660-205F-A51C-0EBB-658FCDB223F7}" v="141" dt="2026-04-20T18:25:55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quinnipiacuniversity-my.sharepoint.com/personal/zrochelle_quinnipiac_edu/Documents/TS-RAG-Graph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quinnipiacuniversity-my.sharepoint.com/personal/zrochelle_quinnipiac_edu/Documents/TS-RAG-Graph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TS-RAG vs standard TSFMs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Average_MSE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Sheet1!$A$3:$A$5</c:f>
              <c:strCache>
                <c:ptCount val="3"/>
                <c:pt idx="0">
                  <c:v>TS-RAG_Chronos-Bolt (Proposed method)</c:v>
                </c:pt>
                <c:pt idx="1">
                  <c:v>Chronos-Bolt                         (Standard TSFM)</c:v>
                </c:pt>
                <c:pt idx="2">
                  <c:v>MOMENT                   (Standard TSFM)</c:v>
                </c:pt>
              </c:strCache>
            </c:strRef>
          </c:cat>
          <c:val>
            <c:numRef>
              <c:f>Sheet1!$B$3:$B$5</c:f>
              <c:numCache>
                <c:formatCode>General</c:formatCode>
                <c:ptCount val="3"/>
                <c:pt idx="0">
                  <c:v>0.19400000000000001</c:v>
                </c:pt>
                <c:pt idx="1">
                  <c:v>0.20080000000000001</c:v>
                </c:pt>
                <c:pt idx="2">
                  <c:v>0.2374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04-4BD7-8FE1-9115C1543AE5}"/>
            </c:ext>
          </c:extLst>
        </c:ser>
        <c:ser>
          <c:idx val="1"/>
          <c:order val="1"/>
          <c:tx>
            <c:strRef>
              <c:f>Sheet1!$C$2</c:f>
              <c:strCache>
                <c:ptCount val="1"/>
                <c:pt idx="0">
                  <c:v>Average_MAE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Sheet1!$A$3:$A$5</c:f>
              <c:strCache>
                <c:ptCount val="3"/>
                <c:pt idx="0">
                  <c:v>TS-RAG_Chronos-Bolt (Proposed method)</c:v>
                </c:pt>
                <c:pt idx="1">
                  <c:v>Chronos-Bolt                         (Standard TSFM)</c:v>
                </c:pt>
                <c:pt idx="2">
                  <c:v>MOMENT                   (Standard TSFM)</c:v>
                </c:pt>
              </c:strCache>
            </c:strRef>
          </c:cat>
          <c:val>
            <c:numRef>
              <c:f>Sheet1!$C$3:$C$5</c:f>
              <c:numCache>
                <c:formatCode>General</c:formatCode>
                <c:ptCount val="3"/>
                <c:pt idx="0">
                  <c:v>0.2492</c:v>
                </c:pt>
                <c:pt idx="1">
                  <c:v>0.2525</c:v>
                </c:pt>
                <c:pt idx="2">
                  <c:v>0.3044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04-4BD7-8FE1-9115C1543A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38856968"/>
        <c:axId val="1938859016"/>
      </c:barChart>
      <c:catAx>
        <c:axId val="1938856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8859016"/>
        <c:crosses val="autoZero"/>
        <c:auto val="1"/>
        <c:lblAlgn val="ctr"/>
        <c:lblOffset val="100"/>
        <c:noMultiLvlLbl val="0"/>
      </c:catAx>
      <c:valAx>
        <c:axId val="1938859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8856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TS-RAG vs RAF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Sheet1!$B$9</c:f>
              <c:strCache>
                <c:ptCount val="1"/>
                <c:pt idx="0">
                  <c:v>Average_MSE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Sheet1!$A$10:$A$11</c:f>
              <c:strCache>
                <c:ptCount val="2"/>
                <c:pt idx="0">
                  <c:v>TS-RAG_Chronos-Bolt              (Proposed method)</c:v>
                </c:pt>
                <c:pt idx="1">
                  <c:v>RAF                                                         (Retrieval baseline)</c:v>
                </c:pt>
              </c:strCache>
            </c:strRef>
          </c:cat>
          <c:val>
            <c:numRef>
              <c:f>Sheet1!$B$10:$B$11</c:f>
              <c:numCache>
                <c:formatCode>General</c:formatCode>
                <c:ptCount val="2"/>
                <c:pt idx="0">
                  <c:v>0.19400000000000001</c:v>
                </c:pt>
                <c:pt idx="1">
                  <c:v>0.23180000000000001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93-4516-9315-F94356535AC4}"/>
            </c:ext>
          </c:extLst>
        </c:ser>
        <c:ser>
          <c:idx val="1"/>
          <c:order val="1"/>
          <c:tx>
            <c:strRef>
              <c:f>Sheet1!$C$9</c:f>
              <c:strCache>
                <c:ptCount val="1"/>
                <c:pt idx="0">
                  <c:v>Average_MAE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Sheet1!$A$10:$A$11</c:f>
              <c:strCache>
                <c:ptCount val="2"/>
                <c:pt idx="0">
                  <c:v>TS-RAG_Chronos-Bolt              (Proposed method)</c:v>
                </c:pt>
                <c:pt idx="1">
                  <c:v>RAF                                                         (Retrieval baseline)</c:v>
                </c:pt>
              </c:strCache>
            </c:strRef>
          </c:cat>
          <c:val>
            <c:numRef>
              <c:f>Sheet1!$C$10:$C$11</c:f>
              <c:numCache>
                <c:formatCode>General</c:formatCode>
                <c:ptCount val="2"/>
                <c:pt idx="0">
                  <c:v>0.2492</c:v>
                </c:pt>
                <c:pt idx="1">
                  <c:v>0.27379999999999999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93-4516-9315-F94356535A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48935943"/>
        <c:axId val="1377920520"/>
      </c:barChart>
      <c:catAx>
        <c:axId val="1848935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7920520"/>
        <c:crosses val="autoZero"/>
        <c:auto val="1"/>
        <c:lblAlgn val="ctr"/>
        <c:lblOffset val="100"/>
        <c:noMultiLvlLbl val="0"/>
      </c:catAx>
      <c:valAx>
        <c:axId val="1377920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8935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4E06E-E5ED-48A5-9D5E-E1AAD3C6EB5E}" type="datetimeFigureOut"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0AA1C-A59A-4D57-AE60-B13F134F4FC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97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TS-RAG and TS-RAG with retrieval are the same thing. Some people just like to add the "with retrieval" part for some reason. </a:t>
            </a:r>
            <a:r>
              <a:rPr lang="en-US"/>
              <a:t>TS-RAG necessarily has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88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Update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33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22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Not sure to include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7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ETTh1  = Electricity Transformer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18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51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298EA-3822-A62B-3D4A-BECF13673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Problem/Motivation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2D256-4289-AF72-1189-694267BC7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How can we improve zero-shot time series forecasting by retrieving similar historical time</a:t>
            </a:r>
            <a:endParaRPr lang="en-US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series patterns from a knowledge base and combining them with the current input before</a:t>
            </a:r>
            <a:endParaRPr lang="en-US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generating the forecast?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Essentially, the goal is to improve time series forecasts by using similar past examples to</a:t>
            </a:r>
            <a:endParaRPr lang="en-US" dirty="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provide extra context.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5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460C0-04C5-DB95-9E58-B722972A8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7E0F-8C8A-BFCC-A742-C4A7DCBAE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Problem/Motivation (Cont.) - in simple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7AA79-0307-E012-C3C3-47C1D6D4C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Normal forecasting model (TSFM):</a:t>
            </a:r>
            <a:endParaRPr lang="en-US" sz="2000">
              <a:ea typeface="+mn-lt"/>
              <a:cs typeface="+mn-lt"/>
            </a:endParaRPr>
          </a:p>
          <a:p>
            <a:pPr lvl="1">
              <a:buNone/>
            </a:pPr>
            <a:r>
              <a:rPr lang="en-US" sz="2000">
                <a:ea typeface="+mn-lt"/>
                <a:cs typeface="+mn-lt"/>
              </a:rPr>
              <a:t>Here is the recent pattern.</a:t>
            </a:r>
          </a:p>
          <a:p>
            <a:pPr lvl="1">
              <a:buNone/>
            </a:pPr>
            <a:r>
              <a:rPr lang="en-US" sz="2000">
                <a:ea typeface="+mn-lt"/>
                <a:cs typeface="+mn-lt"/>
              </a:rPr>
              <a:t>Predict what comes next. 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TS-RAG:</a:t>
            </a:r>
          </a:p>
          <a:p>
            <a:pPr lvl="1">
              <a:buNone/>
            </a:pPr>
            <a:r>
              <a:rPr lang="en-US" sz="2000">
                <a:ea typeface="+mn-lt"/>
                <a:cs typeface="+mn-lt"/>
              </a:rPr>
              <a:t>Here is the recent pattern.</a:t>
            </a:r>
          </a:p>
          <a:p>
            <a:pPr lvl="1">
              <a:buNone/>
            </a:pPr>
            <a:r>
              <a:rPr lang="en-US" sz="2000">
                <a:ea typeface="+mn-lt"/>
                <a:cs typeface="+mn-lt"/>
              </a:rPr>
              <a:t>Also, here are several old patterns that looked similar, plus what happened after them.</a:t>
            </a:r>
          </a:p>
          <a:p>
            <a:pPr lvl="1">
              <a:buNone/>
            </a:pPr>
            <a:r>
              <a:rPr lang="en-US" sz="2000">
                <a:ea typeface="+mn-lt"/>
                <a:cs typeface="+mn-lt"/>
              </a:rPr>
              <a:t>Now predict what comes next.</a:t>
            </a:r>
          </a:p>
        </p:txBody>
      </p:sp>
    </p:spTree>
    <p:extLst>
      <p:ext uri="{BB962C8B-B14F-4D97-AF65-F5344CB8AC3E}">
        <p14:creationId xmlns:p14="http://schemas.microsoft.com/office/powerpoint/2010/main" val="2957766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B1E8B-1575-D2D6-0C48-76858FB7E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C3EE-54B2-CF29-608D-2175695E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What is the repo </a:t>
            </a:r>
            <a:r>
              <a:rPr lang="en-US" sz="4000">
                <a:ea typeface="+mj-lt"/>
                <a:cs typeface="+mj-lt"/>
              </a:rPr>
              <a:t>proposing?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D8772-1089-811F-CAB7-936BD7328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The repo proposes that </a:t>
            </a:r>
            <a:r>
              <a:rPr lang="en-US" sz="2000" b="1">
                <a:solidFill>
                  <a:srgbClr val="FF0000"/>
                </a:solidFill>
                <a:ea typeface="+mn-lt"/>
                <a:cs typeface="+mn-lt"/>
              </a:rPr>
              <a:t>TS-RAG improves zero-shot forecasting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None/>
            </a:pPr>
            <a:endParaRPr lang="en-US" sz="2000" b="1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To demonstrate this, the project offers a test:</a:t>
            </a:r>
          </a:p>
          <a:p>
            <a:pPr>
              <a:buNone/>
            </a:pPr>
            <a:br>
              <a:rPr lang="en-US" sz="2000" dirty="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Compare a retrieval augmented forecasting model (TS-RAG) against a standard backbone forecasting model without retrieval.</a:t>
            </a:r>
          </a:p>
          <a:p>
            <a:pPr algn="r"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In the code, this appears as the models </a:t>
            </a:r>
            <a:r>
              <a:rPr lang="en-US" sz="2000" b="1" dirty="0" err="1">
                <a:ea typeface="+mn-lt"/>
                <a:cs typeface="+mn-lt"/>
              </a:rPr>
              <a:t>ChronosBoltRetrieve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and </a:t>
            </a:r>
            <a:r>
              <a:rPr lang="en-US" sz="2000" b="1" dirty="0" err="1">
                <a:ea typeface="+mn-lt"/>
                <a:cs typeface="+mn-lt"/>
              </a:rPr>
              <a:t>ChronosBolt</a:t>
            </a:r>
            <a:r>
              <a:rPr lang="en-US" sz="2000" b="1" dirty="0">
                <a:ea typeface="+mn-lt"/>
                <a:cs typeface="+mn-lt"/>
              </a:rPr>
              <a:t> </a:t>
            </a: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respectively.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24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1AE57-D6A3-9297-3D80-3B0B3A1D6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6BD8E-677D-18CB-A3AD-00BAD95AC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Key Terms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E4046-12AA-A9C4-822E-02F2FEB71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Standard backbone forecasting model</a:t>
            </a:r>
            <a:r>
              <a:rPr lang="en-US" sz="2000">
                <a:ea typeface="+mn-lt"/>
                <a:cs typeface="+mn-lt"/>
              </a:rPr>
              <a:t>: the plain base model used to make forecasts, without the extra TS-RAG retrieval components added on top. In our case "Chronos-Bolt".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TS-RAG</a:t>
            </a:r>
            <a:endParaRPr lang="en-US" sz="2000" b="1" dirty="0">
              <a:ea typeface="+mn-lt"/>
              <a:cs typeface="+mn-lt"/>
            </a:endParaRPr>
          </a:p>
          <a:p>
            <a:pPr lvl="2">
              <a:buNone/>
            </a:pPr>
            <a:r>
              <a:rPr lang="en-US">
                <a:ea typeface="+mn-lt"/>
                <a:cs typeface="+mn-lt"/>
              </a:rPr>
              <a:t>Consists of 3 parts:</a:t>
            </a:r>
          </a:p>
          <a:p>
            <a:pPr marL="1600200" lvl="2" indent="-457200">
              <a:buAutoNum type="arabicPeriod"/>
            </a:pPr>
            <a:r>
              <a:rPr lang="en-US">
                <a:ea typeface="+mn-lt"/>
                <a:cs typeface="+mn-lt"/>
              </a:rPr>
              <a:t>a time series foundation model (Chronos Bolt)</a:t>
            </a:r>
          </a:p>
          <a:p>
            <a:pPr marL="1600200" lvl="2" indent="-457200">
              <a:buAutoNum type="arabicPeriod"/>
            </a:pPr>
            <a:r>
              <a:rPr lang="en-US">
                <a:ea typeface="+mn-lt"/>
                <a:cs typeface="+mn-lt"/>
              </a:rPr>
              <a:t>a retriever</a:t>
            </a:r>
          </a:p>
          <a:p>
            <a:pPr marL="1600200" lvl="2" indent="-457200">
              <a:buAutoNum type="arabicPeriod"/>
            </a:pPr>
            <a:r>
              <a:rPr lang="en-US">
                <a:ea typeface="+mn-lt"/>
                <a:cs typeface="+mn-lt"/>
              </a:rPr>
              <a:t>an Adaptive Retrieval Mixer (ARM), which combines retrieved horizons with the input before forecasting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sz="2000" b="1">
                <a:ea typeface="+mn-lt"/>
                <a:cs typeface="+mn-lt"/>
              </a:rPr>
              <a:t>Zero-Shot</a:t>
            </a:r>
            <a:r>
              <a:rPr lang="en-US" sz="2000">
                <a:ea typeface="+mn-lt"/>
                <a:cs typeface="+mn-lt"/>
              </a:rPr>
              <a:t>: the model is asked to solve a task without being trained or fine-tuned specifically for dataset beforehand.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 b="1"/>
              <a:t>Time series</a:t>
            </a:r>
            <a:r>
              <a:rPr lang="en-US" sz="2000"/>
              <a:t>: </a:t>
            </a:r>
            <a:r>
              <a:rPr lang="en-US" sz="2000">
                <a:ea typeface="+mn-lt"/>
                <a:cs typeface="+mn-lt"/>
              </a:rPr>
              <a:t>a set of data points recorded in time order: daily, hourly, etc.</a:t>
            </a:r>
            <a:endParaRPr lang="en-US" sz="2000" b="1" dirty="0">
              <a:ea typeface="+mn-lt"/>
              <a:cs typeface="+mn-lt"/>
            </a:endParaRPr>
          </a:p>
          <a:p>
            <a:pPr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33383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BB1B9-38F4-992A-4C8F-47F2699E4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2363-CDC8-BF21-C911-F1C9322A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System/</a:t>
            </a:r>
            <a:r>
              <a:rPr lang="en-US" sz="4000">
                <a:ea typeface="+mj-lt"/>
                <a:cs typeface="+mj-lt"/>
              </a:rPr>
              <a:t>Architecture</a:t>
            </a:r>
            <a:r>
              <a:rPr lang="en-US" sz="4000"/>
              <a:t> 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BB429-9994-F93A-4C3C-038069603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Standard Backbone Model (no TS-RAG)</a:t>
            </a:r>
          </a:p>
          <a:p>
            <a:pPr marL="0" indent="0">
              <a:buNone/>
            </a:pPr>
            <a:r>
              <a:rPr lang="en-US" sz="2000" dirty="0"/>
              <a:t>[ Input Time Series ] → [ Chronos-Bolt ] → [ Forecast (H) ]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TS-RAG </a:t>
            </a:r>
          </a:p>
          <a:p>
            <a:pPr marL="0" indent="0">
              <a:buNone/>
            </a:pPr>
            <a:r>
              <a:rPr lang="en-US" sz="2100" dirty="0"/>
              <a:t>[ Input Time Series ]</a:t>
            </a:r>
            <a:br>
              <a:rPr lang="en-US" sz="2100" dirty="0"/>
            </a:br>
            <a:r>
              <a:rPr lang="en-US" sz="2100" dirty="0"/>
              <a:t>        ↓</a:t>
            </a:r>
            <a:br>
              <a:rPr lang="en-US" sz="2100" dirty="0"/>
            </a:br>
            <a:r>
              <a:rPr lang="en-US" sz="2100" dirty="0"/>
              <a:t>   [ Retriever ]</a:t>
            </a:r>
            <a:br>
              <a:rPr lang="en-US" sz="2100" dirty="0"/>
            </a:br>
            <a:r>
              <a:rPr lang="en-US" sz="2100" dirty="0"/>
              <a:t>        ↓</a:t>
            </a:r>
            <a:br>
              <a:rPr lang="en-US" sz="2100" dirty="0"/>
            </a:br>
            <a:r>
              <a:rPr lang="en-US" sz="2100" dirty="0"/>
              <a:t>[ Retrieved Patterns ]</a:t>
            </a:r>
            <a:br>
              <a:rPr lang="en-US" sz="2100" dirty="0"/>
            </a:br>
            <a:r>
              <a:rPr lang="en-US" sz="2100" dirty="0"/>
              <a:t>        ↓</a:t>
            </a:r>
            <a:br>
              <a:rPr lang="en-US" sz="2100" dirty="0"/>
            </a:br>
            <a:r>
              <a:rPr lang="en-US" sz="2100" dirty="0"/>
              <a:t>[ ARM ]</a:t>
            </a:r>
            <a:br>
              <a:rPr lang="en-US" sz="2100" dirty="0"/>
            </a:br>
            <a:r>
              <a:rPr lang="en-US" sz="2100" dirty="0"/>
              <a:t>        ↓</a:t>
            </a:r>
            <a:br>
              <a:rPr lang="en-US" sz="2100" dirty="0"/>
            </a:br>
            <a:r>
              <a:rPr lang="en-US" sz="2100" dirty="0"/>
              <a:t>[ Chronos-Bolt ]</a:t>
            </a:r>
            <a:br>
              <a:rPr lang="en-US" sz="2100" dirty="0"/>
            </a:br>
            <a:r>
              <a:rPr lang="en-US" sz="2100" dirty="0"/>
              <a:t>        ↓</a:t>
            </a:r>
            <a:br>
              <a:rPr lang="en-US" sz="2100" dirty="0"/>
            </a:br>
            <a:r>
              <a:rPr lang="en-US" sz="2100" dirty="0"/>
              <a:t>[ Forecast (H) 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47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3F5E2-DB44-FD10-D254-487077EA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AB91-49E0-0055-6253-7FC4B9E97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Key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4EF23-ADFC-2D96-356F-A42F612B5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Retriever</a:t>
            </a:r>
            <a:br>
              <a:rPr lang="en-US" dirty="0"/>
            </a:br>
            <a:r>
              <a:rPr lang="en-US" dirty="0"/>
              <a:t>Finds similar past patterns</a:t>
            </a:r>
          </a:p>
          <a:p>
            <a:r>
              <a:rPr lang="en-US" dirty="0"/>
              <a:t> </a:t>
            </a:r>
            <a:r>
              <a:rPr lang="en-US" b="1" dirty="0"/>
              <a:t>Retrieved Data</a:t>
            </a:r>
            <a:br>
              <a:rPr lang="en-US" dirty="0"/>
            </a:br>
            <a:r>
              <a:rPr lang="en-US" dirty="0"/>
              <a:t>Shows what happened next before </a:t>
            </a:r>
          </a:p>
          <a:p>
            <a:r>
              <a:rPr lang="en-US" b="1" dirty="0"/>
              <a:t>ARM (Mixer)</a:t>
            </a:r>
            <a:br>
              <a:rPr lang="en-US" dirty="0"/>
            </a:br>
            <a:r>
              <a:rPr lang="en-US" dirty="0"/>
              <a:t>Combines input + retrieved info </a:t>
            </a:r>
          </a:p>
          <a:p>
            <a:r>
              <a:rPr lang="en-US" b="1" dirty="0"/>
              <a:t>Chronos-Bolt</a:t>
            </a:r>
            <a:br>
              <a:rPr lang="en-US" dirty="0"/>
            </a:br>
            <a:r>
              <a:rPr lang="en-US" dirty="0"/>
              <a:t>Makes the final prediction</a:t>
            </a:r>
          </a:p>
        </p:txBody>
      </p:sp>
    </p:spTree>
    <p:extLst>
      <p:ext uri="{BB962C8B-B14F-4D97-AF65-F5344CB8AC3E}">
        <p14:creationId xmlns:p14="http://schemas.microsoft.com/office/powerpoint/2010/main" val="3965135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42161-AF5A-6FC5-AB15-83AB79C8C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D33C-38DF-A625-2FB7-8DBDA6AF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Experiment Logic - </a:t>
            </a:r>
            <a:r>
              <a:rPr lang="en-US" sz="4000">
                <a:ea typeface="+mj-lt"/>
                <a:cs typeface="+mj-lt"/>
              </a:rPr>
              <a:t>What is being compared?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16739-EA63-4D78-6C00-D1212D06C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 b="1"/>
              <a:t>Compare</a:t>
            </a:r>
            <a:endParaRPr lang="en-US" sz="2000" dirty="0"/>
          </a:p>
          <a:p>
            <a:pPr lvl="1">
              <a:buNone/>
            </a:pPr>
            <a:r>
              <a:rPr lang="en-US" sz="2000" b="1" dirty="0">
                <a:solidFill>
                  <a:srgbClr val="FF0000"/>
                </a:solidFill>
              </a:rPr>
              <a:t>TS-RAG</a:t>
            </a:r>
            <a:r>
              <a:rPr lang="en-US" sz="2000" dirty="0"/>
              <a:t>, implemented as a retrieval-augmented model, i.e. </a:t>
            </a:r>
            <a:r>
              <a:rPr lang="en-US" sz="2000" dirty="0" err="1"/>
              <a:t>ChronosBoltRetrieve</a:t>
            </a:r>
            <a:endParaRPr lang="en-US" sz="2000" dirty="0"/>
          </a:p>
          <a:p>
            <a:pPr>
              <a:buNone/>
            </a:pPr>
            <a:r>
              <a:rPr lang="en-US" sz="2000" b="1"/>
              <a:t>With</a:t>
            </a:r>
            <a:endParaRPr lang="en-US" sz="2000" dirty="0"/>
          </a:p>
          <a:p>
            <a:pPr lvl="1">
              <a:buNone/>
            </a:pPr>
            <a:r>
              <a:rPr lang="en-US" sz="2000" dirty="0"/>
              <a:t>The non-retrieval the backbone model </a:t>
            </a:r>
            <a:r>
              <a:rPr lang="en-US" sz="2000" b="1" dirty="0" err="1">
                <a:solidFill>
                  <a:srgbClr val="FF0000"/>
                </a:solidFill>
              </a:rPr>
              <a:t>ChronosBolt</a:t>
            </a:r>
            <a:endParaRPr 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The repo’s zero-shot script supports these model choices:</a:t>
            </a:r>
            <a:endParaRPr lang="en-US" sz="2000" dirty="0"/>
          </a:p>
          <a:p>
            <a:pPr marL="914400" lvl="1" indent="-457200"/>
            <a:r>
              <a:rPr lang="en-US" sz="2000" dirty="0" err="1">
                <a:ea typeface="+mn-lt"/>
                <a:cs typeface="+mn-lt"/>
              </a:rPr>
              <a:t>ChronosBoltRetrieve</a:t>
            </a:r>
            <a:endParaRPr lang="en-US" sz="2000" dirty="0">
              <a:ea typeface="+mn-lt"/>
              <a:cs typeface="+mn-lt"/>
            </a:endParaRPr>
          </a:p>
          <a:p>
            <a:pPr marL="914400" lvl="1" indent="-457200"/>
            <a:r>
              <a:rPr lang="en-US" sz="2000" dirty="0" err="1">
                <a:ea typeface="+mn-lt"/>
                <a:cs typeface="+mn-lt"/>
              </a:rPr>
              <a:t>ChronosBolt</a:t>
            </a:r>
            <a:endParaRPr lang="en-US" sz="2000" dirty="0"/>
          </a:p>
          <a:p>
            <a:pPr marL="914400" lvl="1" indent="-457200"/>
            <a:r>
              <a:rPr lang="en-US" sz="2000" dirty="0" err="1">
                <a:ea typeface="+mn-lt"/>
                <a:cs typeface="+mn-lt"/>
              </a:rPr>
              <a:t>MOMENTRetrieve</a:t>
            </a:r>
            <a:r>
              <a:rPr lang="en-US" sz="2000" dirty="0">
                <a:ea typeface="+mn-lt"/>
                <a:cs typeface="+mn-lt"/>
              </a:rPr>
              <a:t> (unused)</a:t>
            </a:r>
            <a:endParaRPr lang="en-US" sz="2000" dirty="0"/>
          </a:p>
          <a:p>
            <a:pPr lvl="1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62248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C43ED-AE9B-B7F0-9074-110202AC8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DE26E-BA2E-83DD-E869-0BB5230CD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Experiment</a:t>
            </a:r>
            <a:r>
              <a:rPr lang="en-US" sz="4000"/>
              <a:t> Logic (Cont.) - Metrics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9BA06-BCF4-6C82-40F6-60626E18C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MSE </a:t>
            </a:r>
            <a:r>
              <a:rPr lang="en-US" sz="2000">
                <a:ea typeface="+mn-lt"/>
                <a:cs typeface="+mn-lt"/>
              </a:rPr>
              <a:t>(Mean Squared Error) - measures prediction error, but it squares the errors, so </a:t>
            </a:r>
            <a:r>
              <a:rPr lang="en-US" sz="2000" b="1">
                <a:solidFill>
                  <a:srgbClr val="FF0000"/>
                </a:solidFill>
                <a:ea typeface="+mn-lt"/>
                <a:cs typeface="+mn-lt"/>
              </a:rPr>
              <a:t>it penalizes larger mistakes more heavily</a:t>
            </a:r>
            <a:r>
              <a:rPr lang="en-US" sz="2000">
                <a:ea typeface="+mn-lt"/>
                <a:cs typeface="+mn-lt"/>
              </a:rPr>
              <a:t>. That makes it useful when big forecasting misses are especially undesirable.</a:t>
            </a:r>
          </a:p>
          <a:p>
            <a:r>
              <a:rPr lang="en-US" sz="2000" b="1">
                <a:ea typeface="+mn-lt"/>
                <a:cs typeface="+mn-lt"/>
              </a:rPr>
              <a:t>MAE </a:t>
            </a:r>
            <a:r>
              <a:rPr lang="en-US" sz="2000">
                <a:ea typeface="+mn-lt"/>
                <a:cs typeface="+mn-lt"/>
              </a:rPr>
              <a:t>(Mean Absolute Error) - measures the average absolute difference between the forecast and the true values. It is easy to interpret because </a:t>
            </a:r>
            <a:r>
              <a:rPr lang="en-US" sz="2000" b="1">
                <a:solidFill>
                  <a:srgbClr val="FF0000"/>
                </a:solidFill>
                <a:ea typeface="+mn-lt"/>
                <a:cs typeface="+mn-lt"/>
              </a:rPr>
              <a:t>it tells you the typical size of the model’s error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endParaRPr lang="en-US" sz="20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Using both metrics gives a more balanced evaluation: MAE shows overall average error,</a:t>
            </a:r>
            <a:endParaRPr lang="en-US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while MSE highlights whether the model sometimes makes especially large mistakes. 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86971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23EC1-10F8-6D7B-1714-64916FBB2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D23D-C0A7-F678-C5E7-A87D5D081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Datasets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ED0DF-4BBD-A6A6-54D3-1E037EA52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ETTh1, ETTh2, ETTm1, ETTm2, Weather, Traffic, and Electricity (ECL) are common benchmark </a:t>
            </a:r>
            <a:r>
              <a:rPr lang="en-US" sz="2000">
                <a:ea typeface="+mn-lt"/>
                <a:cs typeface="+mn-lt"/>
              </a:rPr>
              <a:t>datasets in time-series forecasting. Our reproduction used only ETTh1, but the repo supports </a:t>
            </a:r>
            <a:r>
              <a:rPr lang="en-US" sz="2000" dirty="0">
                <a:ea typeface="+mn-lt"/>
                <a:cs typeface="+mn-lt"/>
              </a:rPr>
              <a:t>the following datasets:</a:t>
            </a:r>
            <a:endParaRPr lang="en-US" sz="2000" dirty="0"/>
          </a:p>
          <a:p>
            <a:pPr>
              <a:buNone/>
            </a:pPr>
            <a:endParaRPr lang="en-US" sz="2000" dirty="0"/>
          </a:p>
          <a:p>
            <a:r>
              <a:rPr lang="en-US" sz="2000" b="1">
                <a:ea typeface="+mn-lt"/>
                <a:cs typeface="+mn-lt"/>
              </a:rPr>
              <a:t>ETTh1, ETTh2, ETTm1, ETTm2</a:t>
            </a:r>
            <a:r>
              <a:rPr lang="en-US" sz="2000">
                <a:ea typeface="+mn-lt"/>
                <a:cs typeface="+mn-lt"/>
              </a:rPr>
              <a:t>: four subsets of the Electricity Transformer Temperature (ETT) dataset.</a:t>
            </a:r>
          </a:p>
          <a:p>
            <a:r>
              <a:rPr lang="en-US" sz="2000" b="1">
                <a:ea typeface="+mn-lt"/>
                <a:cs typeface="+mn-lt"/>
              </a:rPr>
              <a:t>Weather:</a:t>
            </a:r>
            <a:r>
              <a:rPr lang="en-US" sz="2000">
                <a:ea typeface="+mn-lt"/>
                <a:cs typeface="+mn-lt"/>
              </a:rPr>
              <a:t> a multivariate weather forecasting dataset commonly used in long-horizon benchmarks.</a:t>
            </a:r>
          </a:p>
          <a:p>
            <a:r>
              <a:rPr lang="en-US" sz="2000" b="1">
                <a:ea typeface="+mn-lt"/>
                <a:cs typeface="+mn-lt"/>
              </a:rPr>
              <a:t>Traffic:</a:t>
            </a:r>
            <a:r>
              <a:rPr lang="en-US" sz="2000">
                <a:ea typeface="+mn-lt"/>
                <a:cs typeface="+mn-lt"/>
              </a:rPr>
              <a:t> a multivariate traffic dataset, often built from many road sensors.</a:t>
            </a:r>
          </a:p>
          <a:p>
            <a:r>
              <a:rPr lang="en-US" sz="2000" b="1">
                <a:ea typeface="+mn-lt"/>
                <a:cs typeface="+mn-lt"/>
              </a:rPr>
              <a:t>Electricity / ECL:</a:t>
            </a:r>
            <a:r>
              <a:rPr lang="en-US" sz="2000">
                <a:ea typeface="+mn-lt"/>
                <a:cs typeface="+mn-lt"/>
              </a:rPr>
              <a:t> the electricity load dataset; “ECL” is the short name commonly used in papers and benchmark libraries.</a:t>
            </a:r>
          </a:p>
        </p:txBody>
      </p:sp>
    </p:spTree>
    <p:extLst>
      <p:ext uri="{BB962C8B-B14F-4D97-AF65-F5344CB8AC3E}">
        <p14:creationId xmlns:p14="http://schemas.microsoft.com/office/powerpoint/2010/main" val="1543916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4C447-68CC-970B-B836-B154CE380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C283D-565D-ADB4-21FC-FE2210C1C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Run Results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F8985-1230-970B-E60B-7EFCD30E5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/>
              <a:t>The model successfully completed a zero-shot forecasting run on the ETTh1 dataset.</a:t>
            </a:r>
          </a:p>
          <a:p>
            <a:pPr marL="0" indent="0">
              <a:buNone/>
            </a:pPr>
            <a:r>
              <a:rPr lang="en-US" sz="2000" dirty="0"/>
              <a:t>As </a:t>
            </a:r>
            <a:r>
              <a:rPr lang="en-US" sz="2000" b="1" dirty="0"/>
              <a:t>input</a:t>
            </a:r>
            <a:r>
              <a:rPr lang="en-US" sz="2000" dirty="0"/>
              <a:t>, it used 512 past time-steps, as </a:t>
            </a:r>
            <a:r>
              <a:rPr lang="en-US" sz="2000" b="1" dirty="0"/>
              <a:t>output</a:t>
            </a:r>
            <a:r>
              <a:rPr lang="en-US" sz="2000"/>
              <a:t> it predicted the next 64 future-timesteps.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/>
              <a:t>The model produced:   </a:t>
            </a:r>
          </a:p>
          <a:p>
            <a:pPr>
              <a:buFont typeface="Arial"/>
              <a:buChar char="•"/>
            </a:pPr>
            <a:r>
              <a:rPr lang="en-US" sz="2000"/>
              <a:t>    Mean Absolute Error: </a:t>
            </a:r>
            <a:r>
              <a:rPr lang="en-US" sz="2000" b="1">
                <a:solidFill>
                  <a:srgbClr val="FF0000"/>
                </a:solidFill>
              </a:rPr>
              <a:t>0.3623</a:t>
            </a:r>
            <a:endParaRPr lang="en-US" sz="2000" b="1"/>
          </a:p>
          <a:p>
            <a:pPr>
              <a:buFont typeface="Arial"/>
              <a:buChar char="•"/>
            </a:pPr>
            <a:r>
              <a:rPr lang="en-US" sz="2000"/>
              <a:t>    Mean Squared Error:  </a:t>
            </a:r>
            <a:r>
              <a:rPr lang="en-US" sz="2000" b="1">
                <a:solidFill>
                  <a:srgbClr val="FF0000"/>
                </a:solidFill>
              </a:rPr>
              <a:t>0.3556</a:t>
            </a:r>
            <a:endParaRPr lang="en-US" sz="2000" b="1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Lower MSE and MAE indicate better forecasting performance. These values show that the model produced a valid forecast with measurable prediction error.</a:t>
            </a:r>
          </a:p>
          <a:p>
            <a:pPr marL="0" indent="0">
              <a:buNone/>
            </a:pPr>
            <a:r>
              <a:rPr lang="en-US" sz="2000" b="1"/>
              <a:t>Conclusion:</a:t>
            </a:r>
            <a:r>
              <a:rPr lang="en-US" sz="2000"/>
              <a:t> We</a:t>
            </a:r>
            <a:r>
              <a:rPr lang="en-US" sz="2000" dirty="0"/>
              <a:t> can use this data to argue </a:t>
            </a:r>
            <a:r>
              <a:rPr lang="en-US" sz="2000" b="1" dirty="0">
                <a:solidFill>
                  <a:srgbClr val="FF0000"/>
                </a:solidFill>
              </a:rPr>
              <a:t>that TS-RAG improves zero-shot forecasting</a:t>
            </a:r>
            <a:r>
              <a:rPr lang="en-US" sz="2000" dirty="0"/>
              <a:t> by comparing it against other methods, like RAF.</a:t>
            </a:r>
          </a:p>
          <a:p>
            <a:pPr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582132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8B8D-A343-0CAC-9308-A89F73B9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Run </a:t>
            </a:r>
            <a:r>
              <a:rPr lang="en-US" sz="4000"/>
              <a:t>Results (cont.) - </a:t>
            </a:r>
            <a:r>
              <a:rPr lang="en-US" sz="4000" dirty="0"/>
              <a:t>TS-RAG vs standard TSFMs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15880AF-4452-82AE-A4A4-1451C49707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64484"/>
              </p:ext>
            </p:extLst>
          </p:nvPr>
        </p:nvGraphicFramePr>
        <p:xfrm>
          <a:off x="1922305" y="1715170"/>
          <a:ext cx="8349803" cy="4428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25915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93293-D2F9-2884-BF8A-FB53D58C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Run Results (cont.) - TS-RAG vs RAF</a:t>
            </a:r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230FBBE-9CC7-F59C-B17B-CBD3C9C0AD7F}"/>
              </a:ext>
              <a:ext uri="{147F2762-F138-4A5C-976F-8EAC2B608ADB}">
                <a16:predDERef xmlns:a16="http://schemas.microsoft.com/office/drawing/2014/main" pred="{815880AF-4452-82AE-A4A4-1451C49707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0204357"/>
              </p:ext>
            </p:extLst>
          </p:nvPr>
        </p:nvGraphicFramePr>
        <p:xfrm>
          <a:off x="2294050" y="1715172"/>
          <a:ext cx="7617048" cy="4192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92980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D9C7A-A270-A8E7-26EB-4D6F58ED0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Critical Insite/</a:t>
            </a:r>
            <a:r>
              <a:rPr lang="en-US" sz="4000">
                <a:ea typeface="+mj-lt"/>
                <a:cs typeface="+mj-lt"/>
              </a:rPr>
              <a:t>Limitations?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638C5-9DC7-5CD3-FA50-BE02DE376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ea typeface="+mn-lt"/>
                <a:cs typeface="+mn-lt"/>
              </a:rPr>
              <a:t>TS-RAG improves forecasting without changing the backbone itself very much. Keep in mind, that  the backbone is the base model, in this case, Chronos-Bolt.</a:t>
            </a:r>
            <a:endParaRPr lang="en-US" dirty="0"/>
          </a:p>
          <a:p>
            <a:r>
              <a:rPr lang="en-US" sz="1700" dirty="0">
                <a:ea typeface="+mn-lt"/>
                <a:cs typeface="+mn-lt"/>
              </a:rPr>
              <a:t>Instead of attempting to improves performance by training a bigger model, it does so by retrieving useful historical patterns and mixing them into the prediction process.</a:t>
            </a:r>
            <a:endParaRPr lang="en-US" dirty="0"/>
          </a:p>
          <a:p>
            <a:r>
              <a:rPr lang="en-US" sz="1700">
                <a:ea typeface="+mn-lt"/>
                <a:cs typeface="+mn-lt"/>
              </a:rPr>
              <a:t>That stood out to us because it suggests that, in zero-shot forecasting, having the right context may be just as important as having a stronger model.</a:t>
            </a:r>
            <a:endParaRPr lang="en-US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pPr marL="0" indent="0">
              <a:buNone/>
            </a:pPr>
            <a:r>
              <a:rPr lang="en-US" sz="1700" b="1">
                <a:solidFill>
                  <a:srgbClr val="FF0000"/>
                </a:solidFill>
              </a:rPr>
              <a:t>Think about adding limitations?</a:t>
            </a:r>
            <a:endParaRPr lang="en-US" sz="170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96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916</Words>
  <Application>Microsoft Macintosh PowerPoint</Application>
  <PresentationFormat>Widescreen</PresentationFormat>
  <Paragraphs>99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Problem/Motivation</vt:lpstr>
      <vt:lpstr>Problem/Motivation (Cont.) - in simple terms</vt:lpstr>
      <vt:lpstr>What is the repo proposing?</vt:lpstr>
      <vt:lpstr>Key Terms</vt:lpstr>
      <vt:lpstr>System/Architecture Diagram</vt:lpstr>
      <vt:lpstr>Key Modules</vt:lpstr>
      <vt:lpstr>Experiment Logic - What is being compared?</vt:lpstr>
      <vt:lpstr>Experiment Logic (Cont.) - Metrics</vt:lpstr>
      <vt:lpstr>Datasets</vt:lpstr>
      <vt:lpstr>Run Results</vt:lpstr>
      <vt:lpstr>Run Results (cont.) - TS-RAG vs standard TSFMs</vt:lpstr>
      <vt:lpstr>Run Results (cont.) - TS-RAG vs RAF</vt:lpstr>
      <vt:lpstr>Critical Insite/Limitations?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Quraishy, Sarah</cp:lastModifiedBy>
  <cp:revision>484</cp:revision>
  <dcterms:created xsi:type="dcterms:W3CDTF">2026-03-24T23:51:18Z</dcterms:created>
  <dcterms:modified xsi:type="dcterms:W3CDTF">2026-04-22T00:11:48Z</dcterms:modified>
</cp:coreProperties>
</file>
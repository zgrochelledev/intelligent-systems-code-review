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sldIdLst>
    <p:sldId id="259" r:id="rId2"/>
    <p:sldId id="273" r:id="rId3"/>
    <p:sldId id="266" r:id="rId4"/>
    <p:sldId id="270" r:id="rId5"/>
    <p:sldId id="265" r:id="rId6"/>
    <p:sldId id="260" r:id="rId7"/>
    <p:sldId id="261" r:id="rId8"/>
    <p:sldId id="268" r:id="rId9"/>
    <p:sldId id="271" r:id="rId10"/>
    <p:sldId id="269" r:id="rId11"/>
    <p:sldId id="263" r:id="rId12"/>
    <p:sldId id="264" r:id="rId13"/>
    <p:sldId id="272" r:id="rId14"/>
    <p:sldId id="262" r:id="rId15"/>
    <p:sldId id="274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9097E38-CE9F-94DD-933C-5950183B61F4}" name="Zoe Rochelle II" initials="ZI" userId="1479fce0824242b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2B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43CBA5-581A-5FA3-C7E0-82080635DA43}" v="1097" dt="2026-04-22T21:58:53.32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5"/>
  </p:normalViewPr>
  <p:slideViewPr>
    <p:cSldViewPr snapToGrid="0">
      <p:cViewPr varScale="1">
        <p:scale>
          <a:sx n="119" d="100"/>
          <a:sy n="119" d="100"/>
        </p:scale>
        <p:origin x="5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quinnipiacuniversity-my.sharepoint.com/personal/zrochelle_quinnipiac_edu/Documents/TS-RAG-Graph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quinnipiacuniversity-my.sharepoint.com/personal/zrochelle_quinnipiac_edu/Documents/TS-RAG-Graph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TS-RAG vs standard TSFMs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Sheet1!$B$2</c:f>
              <c:strCache>
                <c:ptCount val="1"/>
                <c:pt idx="0">
                  <c:v>Average_MSE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Sheet1!$A$3:$A$5</c:f>
              <c:strCache>
                <c:ptCount val="3"/>
                <c:pt idx="0">
                  <c:v>TS-RAG_Chronos-Bolt (Proposed method)</c:v>
                </c:pt>
                <c:pt idx="1">
                  <c:v>Chronos-Bolt                         (Standard TSFM)</c:v>
                </c:pt>
                <c:pt idx="2">
                  <c:v>MOMENT                   (Standard TSFM)</c:v>
                </c:pt>
              </c:strCache>
            </c:strRef>
          </c:cat>
          <c:val>
            <c:numRef>
              <c:f>Sheet1!$B$3:$B$5</c:f>
              <c:numCache>
                <c:formatCode>General</c:formatCode>
                <c:ptCount val="3"/>
                <c:pt idx="0">
                  <c:v>0.19400000000000001</c:v>
                </c:pt>
                <c:pt idx="1">
                  <c:v>0.20080000000000001</c:v>
                </c:pt>
                <c:pt idx="2">
                  <c:v>0.2374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004-4BD7-8FE1-9115C1543AE5}"/>
            </c:ext>
          </c:extLst>
        </c:ser>
        <c:ser>
          <c:idx val="1"/>
          <c:order val="1"/>
          <c:tx>
            <c:strRef>
              <c:f>Sheet1!$C$2</c:f>
              <c:strCache>
                <c:ptCount val="1"/>
                <c:pt idx="0">
                  <c:v>Average_MAE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Sheet1!$A$3:$A$5</c:f>
              <c:strCache>
                <c:ptCount val="3"/>
                <c:pt idx="0">
                  <c:v>TS-RAG_Chronos-Bolt (Proposed method)</c:v>
                </c:pt>
                <c:pt idx="1">
                  <c:v>Chronos-Bolt                         (Standard TSFM)</c:v>
                </c:pt>
                <c:pt idx="2">
                  <c:v>MOMENT                   (Standard TSFM)</c:v>
                </c:pt>
              </c:strCache>
            </c:strRef>
          </c:cat>
          <c:val>
            <c:numRef>
              <c:f>Sheet1!$C$3:$C$5</c:f>
              <c:numCache>
                <c:formatCode>General</c:formatCode>
                <c:ptCount val="3"/>
                <c:pt idx="0">
                  <c:v>0.2492</c:v>
                </c:pt>
                <c:pt idx="1">
                  <c:v>0.2525</c:v>
                </c:pt>
                <c:pt idx="2">
                  <c:v>0.3044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004-4BD7-8FE1-9115C1543AE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38856968"/>
        <c:axId val="1938859016"/>
      </c:barChart>
      <c:catAx>
        <c:axId val="19388569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38859016"/>
        <c:crosses val="autoZero"/>
        <c:auto val="1"/>
        <c:lblAlgn val="ctr"/>
        <c:lblOffset val="100"/>
        <c:noMultiLvlLbl val="0"/>
      </c:catAx>
      <c:valAx>
        <c:axId val="19388590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388569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TS-RAG vs RAF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Sheet1!$B$9</c:f>
              <c:strCache>
                <c:ptCount val="1"/>
                <c:pt idx="0">
                  <c:v>Average_MSE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Sheet1!$A$10:$A$11</c:f>
              <c:strCache>
                <c:ptCount val="2"/>
                <c:pt idx="0">
                  <c:v>TS-RAG_Chronos-Bolt              (Proposed method)</c:v>
                </c:pt>
                <c:pt idx="1">
                  <c:v>RAF                                                         (Retrieval baseline)</c:v>
                </c:pt>
              </c:strCache>
            </c:strRef>
          </c:cat>
          <c:val>
            <c:numRef>
              <c:f>Sheet1!$B$10:$B$11</c:f>
              <c:numCache>
                <c:formatCode>General</c:formatCode>
                <c:ptCount val="2"/>
                <c:pt idx="0">
                  <c:v>0.19400000000000001</c:v>
                </c:pt>
                <c:pt idx="1">
                  <c:v>0.23180000000000001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A93-4516-9315-F94356535AC4}"/>
            </c:ext>
          </c:extLst>
        </c:ser>
        <c:ser>
          <c:idx val="1"/>
          <c:order val="1"/>
          <c:tx>
            <c:strRef>
              <c:f>Sheet1!$C$9</c:f>
              <c:strCache>
                <c:ptCount val="1"/>
                <c:pt idx="0">
                  <c:v>Average_MAE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Sheet1!$A$10:$A$11</c:f>
              <c:strCache>
                <c:ptCount val="2"/>
                <c:pt idx="0">
                  <c:v>TS-RAG_Chronos-Bolt              (Proposed method)</c:v>
                </c:pt>
                <c:pt idx="1">
                  <c:v>RAF                                                         (Retrieval baseline)</c:v>
                </c:pt>
              </c:strCache>
            </c:strRef>
          </c:cat>
          <c:val>
            <c:numRef>
              <c:f>Sheet1!$C$10:$C$11</c:f>
              <c:numCache>
                <c:formatCode>General</c:formatCode>
                <c:ptCount val="2"/>
                <c:pt idx="0">
                  <c:v>0.2492</c:v>
                </c:pt>
                <c:pt idx="1">
                  <c:v>0.27379999999999999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A93-4516-9315-F94356535A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848935943"/>
        <c:axId val="1377920520"/>
      </c:barChart>
      <c:catAx>
        <c:axId val="18489359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77920520"/>
        <c:crosses val="autoZero"/>
        <c:auto val="1"/>
        <c:lblAlgn val="ctr"/>
        <c:lblOffset val="100"/>
        <c:noMultiLvlLbl val="0"/>
      </c:catAx>
      <c:valAx>
        <c:axId val="13779205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489359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04E06E-E5ED-48A5-9D5E-E1AAD3C6EB5E}" type="datetimeFigureOut">
              <a:t>4/22/2026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70AA1C-A59A-4D57-AE60-B13F134F4FC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897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Update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70AA1C-A59A-4D57-AE60-B13F134F4FC4}" type="slidenum"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6336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70AA1C-A59A-4D57-AE60-B13F134F4FC4}" type="slidenum"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222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Not sure to include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70AA1C-A59A-4D57-AE60-B13F134F4FC4}" type="slidenum"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875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ETTh1  = Electricity Transformer dataset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70AA1C-A59A-4D57-AE60-B13F134F4FC4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0181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70AA1C-A59A-4D57-AE60-B13F134F4FC4}" type="slidenum"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0519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A298EA-3822-A62B-3D4A-BECF13673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549" y="1219629"/>
            <a:ext cx="5515590" cy="262171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000" b="1">
                <a:highlight>
                  <a:srgbClr val="FFFFFF"/>
                </a:highlight>
              </a:rPr>
              <a:t>Code Review</a:t>
            </a:r>
            <a:br>
              <a:rPr lang="en-US" sz="3000" dirty="0">
                <a:highlight>
                  <a:srgbClr val="FFFFFF"/>
                </a:highlight>
              </a:rPr>
            </a:br>
            <a:r>
              <a:rPr lang="en-US" sz="3000">
                <a:highlight>
                  <a:srgbClr val="FFFFFF"/>
                </a:highlight>
              </a:rPr>
              <a:t>TS-RAG: Retrieval-Augmented Generation based Time Series Foundation Models are Stronger Zero-Shot Forecaster</a:t>
            </a:r>
            <a:endParaRPr lang="en-US" sz="30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B89C4A-EACE-0F1D-5DB3-3DDE38AA09D6}"/>
              </a:ext>
            </a:extLst>
          </p:cNvPr>
          <p:cNvSpPr txBox="1"/>
          <p:nvPr/>
        </p:nvSpPr>
        <p:spPr>
          <a:xfrm>
            <a:off x="890339" y="4657473"/>
            <a:ext cx="4968239" cy="2012796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600"/>
              <a:t>Intelligent Systems - CSC 500</a:t>
            </a:r>
            <a:endParaRPr lang="en-US" sz="1600" dirty="0"/>
          </a:p>
          <a:p>
            <a:r>
              <a:rPr lang="en-US" sz="1600"/>
              <a:t>Dr. Sahoo</a:t>
            </a:r>
            <a:endParaRPr lang="en-US" sz="1600" dirty="0"/>
          </a:p>
          <a:p>
            <a:r>
              <a:rPr lang="en-US" sz="1600"/>
              <a:t>Quinnipiac University</a:t>
            </a:r>
            <a:endParaRPr lang="en-US" sz="1600" dirty="0"/>
          </a:p>
          <a:p>
            <a:r>
              <a:rPr lang="en-US" sz="1600"/>
              <a:t>April 21, 2026</a:t>
            </a:r>
            <a:endParaRPr lang="en-US" sz="1600" dirty="0"/>
          </a:p>
          <a:p>
            <a:endParaRPr lang="en-US" sz="1600" dirty="0"/>
          </a:p>
          <a:p>
            <a:r>
              <a:rPr lang="en-US" sz="1600"/>
              <a:t>Repo: </a:t>
            </a:r>
            <a:r>
              <a:rPr lang="en-US" sz="1600" i="1">
                <a:solidFill>
                  <a:srgbClr val="122BE3"/>
                </a:solidFill>
              </a:rPr>
              <a:t>https://github.com/UConn-DSIS/TS-RAG</a:t>
            </a:r>
          </a:p>
        </p:txBody>
      </p:sp>
      <p:sp>
        <p:nvSpPr>
          <p:cNvPr id="14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0338" y="4409267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B0DBB8-6589-23C1-15AD-BD2361A032C8}"/>
              </a:ext>
            </a:extLst>
          </p:cNvPr>
          <p:cNvSpPr txBox="1"/>
          <p:nvPr/>
        </p:nvSpPr>
        <p:spPr>
          <a:xfrm>
            <a:off x="8266309" y="1711271"/>
            <a:ext cx="3112395" cy="11695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600"/>
              </a:spcAft>
            </a:pPr>
            <a:r>
              <a:rPr lang="en-US" sz="2000" b="1"/>
              <a:t>Group members</a:t>
            </a:r>
            <a:endParaRPr lang="en-US" b="1"/>
          </a:p>
          <a:p>
            <a:pPr lvl="1">
              <a:spcAft>
                <a:spcPts val="600"/>
              </a:spcAft>
            </a:pPr>
            <a:r>
              <a:rPr lang="en-US" sz="2000"/>
              <a:t>Zoe Rochelle</a:t>
            </a:r>
          </a:p>
          <a:p>
            <a:pPr lvl="1">
              <a:spcAft>
                <a:spcPts val="600"/>
              </a:spcAft>
            </a:pPr>
            <a:r>
              <a:rPr lang="en-US" sz="2000" dirty="0"/>
              <a:t>Sarah </a:t>
            </a:r>
            <a:r>
              <a:rPr lang="en-US" sz="2000" dirty="0" err="1">
                <a:ea typeface="+mn-lt"/>
                <a:cs typeface="+mn-lt"/>
              </a:rPr>
              <a:t>Quraishy</a:t>
            </a:r>
            <a:endParaRPr lang="en-US" err="1"/>
          </a:p>
        </p:txBody>
      </p:sp>
    </p:spTree>
    <p:extLst>
      <p:ext uri="{BB962C8B-B14F-4D97-AF65-F5344CB8AC3E}">
        <p14:creationId xmlns:p14="http://schemas.microsoft.com/office/powerpoint/2010/main" val="2471752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C7D93-E64C-DDBE-3A27-AC3E75553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3088A-2338-91AC-D7DE-4A408FAC1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Problem/Motivation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00E12B-7138-5537-F211-CD52FE475305}"/>
              </a:ext>
            </a:extLst>
          </p:cNvPr>
          <p:cNvSpPr txBox="1"/>
          <p:nvPr/>
        </p:nvSpPr>
        <p:spPr>
          <a:xfrm>
            <a:off x="839492" y="1711271"/>
            <a:ext cx="10667999" cy="449020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/>
              <a:t>The goal of this experiment is to </a:t>
            </a:r>
            <a:r>
              <a:rPr lang="en-US" sz="2000" b="1" dirty="0">
                <a:solidFill>
                  <a:srgbClr val="FF0000"/>
                </a:solidFill>
              </a:rPr>
              <a:t>improve time series forecasts</a:t>
            </a:r>
            <a:r>
              <a:rPr lang="en-US" sz="2000" dirty="0"/>
              <a:t> by using similar past examples to provide </a:t>
            </a:r>
            <a:r>
              <a:rPr lang="en-US" sz="2000"/>
              <a:t>extra context to the model before generating the forecast.</a:t>
            </a:r>
            <a:endParaRPr lang="en-US" sz="2000" dirty="0"/>
          </a:p>
          <a:p>
            <a:endParaRPr lang="en-US" sz="2000" dirty="0"/>
          </a:p>
          <a:p>
            <a:r>
              <a:rPr lang="en-US" sz="2000" b="1">
                <a:solidFill>
                  <a:srgbClr val="FF0000"/>
                </a:solidFill>
              </a:rPr>
              <a:t>How do these approaches differ?</a:t>
            </a:r>
          </a:p>
          <a:p>
            <a:endParaRPr lang="en-US" sz="2000" dirty="0"/>
          </a:p>
          <a:p>
            <a:pPr marL="228600" indent="-228600">
              <a:lnSpc>
                <a:spcPct val="90000"/>
              </a:lnSpc>
              <a:spcBef>
                <a:spcPts val="1000"/>
              </a:spcBef>
            </a:pPr>
            <a:r>
              <a:rPr lang="en-US" sz="2000" b="1"/>
              <a:t>A typical forecasting model (TSFM):</a:t>
            </a:r>
            <a:endParaRPr lang="en-US" sz="2000"/>
          </a:p>
          <a:p>
            <a:pPr marL="685800" lvl="1" indent="-228600">
              <a:lnSpc>
                <a:spcPct val="90000"/>
              </a:lnSpc>
              <a:spcBef>
                <a:spcPts val="500"/>
              </a:spcBef>
            </a:pPr>
            <a:r>
              <a:rPr lang="en-US" sz="2000"/>
              <a:t>Here is the recent pattern.</a:t>
            </a:r>
          </a:p>
          <a:p>
            <a:pPr marL="685800" lvl="1" indent="-228600">
              <a:lnSpc>
                <a:spcPct val="90000"/>
              </a:lnSpc>
              <a:spcBef>
                <a:spcPts val="500"/>
              </a:spcBef>
            </a:pPr>
            <a:r>
              <a:rPr lang="en-US" sz="2000"/>
              <a:t>Predict what comes next.</a:t>
            </a:r>
            <a:endParaRPr lang="en-US"/>
          </a:p>
          <a:p>
            <a:pPr marL="685800" lvl="1" indent="-228600">
              <a:lnSpc>
                <a:spcPct val="90000"/>
              </a:lnSpc>
              <a:spcBef>
                <a:spcPts val="500"/>
              </a:spcBef>
            </a:pPr>
            <a:endParaRPr lang="en-US" sz="2000" dirty="0"/>
          </a:p>
          <a:p>
            <a:pPr marL="228600" indent="-228600">
              <a:lnSpc>
                <a:spcPct val="90000"/>
              </a:lnSpc>
              <a:spcBef>
                <a:spcPts val="1000"/>
              </a:spcBef>
            </a:pPr>
            <a:r>
              <a:rPr lang="en-US" sz="2000" b="1"/>
              <a:t>TS-RAG:</a:t>
            </a:r>
            <a:endParaRPr lang="en-US" sz="2000"/>
          </a:p>
          <a:p>
            <a:pPr marL="685800" lvl="1" indent="-228600">
              <a:lnSpc>
                <a:spcPct val="90000"/>
              </a:lnSpc>
              <a:spcBef>
                <a:spcPts val="500"/>
              </a:spcBef>
            </a:pPr>
            <a:r>
              <a:rPr lang="en-US" sz="2000"/>
              <a:t>Here is the recent pattern.</a:t>
            </a:r>
          </a:p>
          <a:p>
            <a:pPr marL="685800" lvl="1" indent="-228600">
              <a:lnSpc>
                <a:spcPct val="90000"/>
              </a:lnSpc>
              <a:spcBef>
                <a:spcPts val="500"/>
              </a:spcBef>
            </a:pPr>
            <a:r>
              <a:rPr lang="en-US" sz="2000"/>
              <a:t>Also, here are several old patterns that looked similar, plus what happened after them.</a:t>
            </a:r>
          </a:p>
          <a:p>
            <a:pPr marL="685800" lvl="1" indent="-228600">
              <a:lnSpc>
                <a:spcPct val="90000"/>
              </a:lnSpc>
              <a:spcBef>
                <a:spcPts val="500"/>
              </a:spcBef>
            </a:pPr>
            <a:r>
              <a:rPr lang="en-US" sz="2000"/>
              <a:t>Now predict what comes next.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3504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B1E8B-1575-D2D6-0C48-76858FB7E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AC3EE-54B2-CF29-608D-2175695E7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ea typeface="+mj-lt"/>
                <a:cs typeface="+mj-lt"/>
              </a:rPr>
              <a:t>What is this repo proposing?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D8772-1089-811F-CAB7-936BD73282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US" sz="2000">
                <a:ea typeface="+mn-lt"/>
                <a:cs typeface="+mn-lt"/>
              </a:rPr>
              <a:t>The repo proposes that </a:t>
            </a:r>
            <a:r>
              <a:rPr lang="en-US" sz="2000" b="1">
                <a:solidFill>
                  <a:srgbClr val="FF0000"/>
                </a:solidFill>
                <a:ea typeface="+mn-lt"/>
                <a:cs typeface="+mn-lt"/>
              </a:rPr>
              <a:t>TS-RAG improves zero-shot forecasting</a:t>
            </a:r>
            <a:r>
              <a:rPr lang="en-US" sz="2000" dirty="0">
                <a:ea typeface="+mn-lt"/>
                <a:cs typeface="+mn-lt"/>
              </a:rPr>
              <a:t>.</a:t>
            </a:r>
            <a:endParaRPr lang="en-US" dirty="0"/>
          </a:p>
          <a:p>
            <a:pPr>
              <a:buNone/>
            </a:pPr>
            <a:endParaRPr lang="en-US" sz="2000" b="1" dirty="0">
              <a:ea typeface="+mn-lt"/>
              <a:cs typeface="+mn-lt"/>
            </a:endParaRPr>
          </a:p>
          <a:p>
            <a:pPr>
              <a:buNone/>
            </a:pPr>
            <a:r>
              <a:rPr lang="en-US" sz="2000" dirty="0">
                <a:ea typeface="+mn-lt"/>
                <a:cs typeface="+mn-lt"/>
              </a:rPr>
              <a:t>To demonstrate this, the project offers a test:</a:t>
            </a:r>
          </a:p>
          <a:p>
            <a:pPr>
              <a:buNone/>
            </a:pPr>
            <a:br>
              <a:rPr lang="en-US" sz="2000" dirty="0">
                <a:ea typeface="+mn-lt"/>
                <a:cs typeface="+mn-lt"/>
              </a:rPr>
            </a:br>
            <a:r>
              <a:rPr lang="en-US" sz="2000" dirty="0">
                <a:ea typeface="+mn-lt"/>
                <a:cs typeface="+mn-lt"/>
              </a:rPr>
              <a:t>Compare a retrieval augmented forecasting model (TS-RAG) against a standard backbone forecasting model (i.e. without retrieval) and examine the results.</a:t>
            </a:r>
          </a:p>
          <a:p>
            <a:pPr algn="r">
              <a:buNone/>
            </a:pPr>
            <a:endParaRPr lang="en-US" sz="2000" dirty="0"/>
          </a:p>
          <a:p>
            <a:pPr>
              <a:buNone/>
            </a:pPr>
            <a:r>
              <a:rPr lang="en-US" sz="2000" dirty="0">
                <a:ea typeface="+mn-lt"/>
                <a:cs typeface="+mn-lt"/>
              </a:rPr>
              <a:t>In the code, this appears as the models </a:t>
            </a:r>
            <a:r>
              <a:rPr lang="en-US" sz="2000" b="1" dirty="0" err="1">
                <a:ea typeface="+mn-lt"/>
                <a:cs typeface="+mn-lt"/>
              </a:rPr>
              <a:t>ChronosBoltRetrieve</a:t>
            </a:r>
            <a:r>
              <a:rPr lang="en-US" sz="2000" b="1" dirty="0">
                <a:ea typeface="+mn-lt"/>
                <a:cs typeface="+mn-lt"/>
              </a:rPr>
              <a:t> </a:t>
            </a:r>
            <a:r>
              <a:rPr lang="en-US" sz="2000" dirty="0">
                <a:ea typeface="+mn-lt"/>
                <a:cs typeface="+mn-lt"/>
              </a:rPr>
              <a:t>and </a:t>
            </a:r>
            <a:r>
              <a:rPr lang="en-US" sz="2000" b="1" dirty="0" err="1">
                <a:ea typeface="+mn-lt"/>
                <a:cs typeface="+mn-lt"/>
              </a:rPr>
              <a:t>ChronosBolt</a:t>
            </a:r>
            <a:r>
              <a:rPr lang="en-US" sz="2000" b="1" dirty="0">
                <a:ea typeface="+mn-lt"/>
                <a:cs typeface="+mn-lt"/>
              </a:rPr>
              <a:t> </a:t>
            </a:r>
          </a:p>
          <a:p>
            <a:pPr>
              <a:buNone/>
            </a:pPr>
            <a:r>
              <a:rPr lang="en-US" sz="2000">
                <a:ea typeface="+mn-lt"/>
                <a:cs typeface="+mn-lt"/>
              </a:rPr>
              <a:t>respectively.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248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1AE57-D6A3-9297-3D80-3B0B3A1D6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6BD8E-677D-18CB-A3AD-00BAD95AC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ea typeface="+mj-lt"/>
                <a:cs typeface="+mj-lt"/>
              </a:rPr>
              <a:t>Key Terms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E4046-12AA-A9C4-822E-02F2FEB71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 b="1">
                <a:ea typeface="+mn-lt"/>
                <a:cs typeface="+mn-lt"/>
              </a:rPr>
              <a:t>Standard backbone forecasting model</a:t>
            </a:r>
            <a:r>
              <a:rPr lang="en-US" sz="2000">
                <a:ea typeface="+mn-lt"/>
                <a:cs typeface="+mn-lt"/>
              </a:rPr>
              <a:t>: this is the plain base model used to make forecasts, without the extra TS-RAG retrieval components added on top. In our case "Chronos-Bolt".</a:t>
            </a:r>
            <a:endParaRPr lang="en-US" sz="2000" dirty="0">
              <a:ea typeface="+mn-lt"/>
              <a:cs typeface="+mn-lt"/>
            </a:endParaRPr>
          </a:p>
          <a:p>
            <a:r>
              <a:rPr lang="en-US" sz="2000" b="1">
                <a:ea typeface="+mn-lt"/>
                <a:cs typeface="+mn-lt"/>
              </a:rPr>
              <a:t>TS-RAG</a:t>
            </a:r>
            <a:endParaRPr lang="en-US" sz="2000" b="1" dirty="0">
              <a:ea typeface="+mn-lt"/>
              <a:cs typeface="+mn-lt"/>
            </a:endParaRPr>
          </a:p>
          <a:p>
            <a:pPr lvl="2">
              <a:buNone/>
            </a:pPr>
            <a:r>
              <a:rPr lang="en-US">
                <a:ea typeface="+mn-lt"/>
                <a:cs typeface="+mn-lt"/>
              </a:rPr>
              <a:t>Consists of 3 parts:</a:t>
            </a:r>
          </a:p>
          <a:p>
            <a:pPr marL="1600200" lvl="2" indent="-457200">
              <a:buAutoNum type="arabicPeriod"/>
            </a:pPr>
            <a:r>
              <a:rPr lang="en-US">
                <a:ea typeface="+mn-lt"/>
                <a:cs typeface="+mn-lt"/>
              </a:rPr>
              <a:t>a time series foundation model (Chronos Bolt)</a:t>
            </a:r>
          </a:p>
          <a:p>
            <a:pPr marL="1600200" lvl="2" indent="-457200">
              <a:buAutoNum type="arabicPeriod"/>
            </a:pPr>
            <a:r>
              <a:rPr lang="en-US">
                <a:ea typeface="+mn-lt"/>
                <a:cs typeface="+mn-lt"/>
              </a:rPr>
              <a:t>a retriever</a:t>
            </a:r>
          </a:p>
          <a:p>
            <a:pPr marL="1600200" lvl="2" indent="-457200">
              <a:buAutoNum type="arabicPeriod"/>
            </a:pPr>
            <a:r>
              <a:rPr lang="en-US">
                <a:ea typeface="+mn-lt"/>
                <a:cs typeface="+mn-lt"/>
              </a:rPr>
              <a:t>an Adaptive Retrieval Mixer (ARM), which combines retrieved horizons with the input before forecasting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r>
              <a:rPr lang="en-US" sz="2000" b="1">
                <a:ea typeface="+mn-lt"/>
                <a:cs typeface="+mn-lt"/>
              </a:rPr>
              <a:t>Zero-Shot</a:t>
            </a:r>
            <a:r>
              <a:rPr lang="en-US" sz="2000">
                <a:ea typeface="+mn-lt"/>
                <a:cs typeface="+mn-lt"/>
              </a:rPr>
              <a:t>: the model is asked to solve a task without being trained or fine-tuned specifically for dataset beforehand.</a:t>
            </a:r>
            <a:endParaRPr lang="en-US" sz="2000" dirty="0">
              <a:ea typeface="+mn-lt"/>
              <a:cs typeface="+mn-lt"/>
            </a:endParaRPr>
          </a:p>
          <a:p>
            <a:r>
              <a:rPr lang="en-US" sz="2000" b="1"/>
              <a:t>Time series</a:t>
            </a:r>
            <a:r>
              <a:rPr lang="en-US" sz="2000"/>
              <a:t>: </a:t>
            </a:r>
            <a:r>
              <a:rPr lang="en-US" sz="2000">
                <a:ea typeface="+mn-lt"/>
                <a:cs typeface="+mn-lt"/>
              </a:rPr>
              <a:t>a set of data points recorded in time order: daily, hourly, etc.</a:t>
            </a:r>
            <a:endParaRPr lang="en-US" sz="2000" b="1" dirty="0">
              <a:ea typeface="+mn-lt"/>
              <a:cs typeface="+mn-lt"/>
            </a:endParaRPr>
          </a:p>
          <a:p>
            <a:pPr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333383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BB1B9-38F4-992A-4C8F-47F2699E4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92363-CDC8-BF21-C911-F1C9322A6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System/</a:t>
            </a:r>
            <a:r>
              <a:rPr lang="en-US" sz="4000">
                <a:ea typeface="+mj-lt"/>
                <a:cs typeface="+mj-lt"/>
              </a:rPr>
              <a:t>Architecture</a:t>
            </a:r>
            <a:r>
              <a:rPr lang="en-US" sz="4000"/>
              <a:t> Diagram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3BB429-9994-F93A-4C3C-038069603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Standard Backbone Model (no TS-RAG)</a:t>
            </a:r>
          </a:p>
          <a:p>
            <a:pPr marL="0" indent="0">
              <a:buNone/>
            </a:pPr>
            <a:r>
              <a:rPr lang="en-US" sz="2000" dirty="0"/>
              <a:t>[ Input Time Series ] → [ Chronos-Bolt ] → [ Forecast (H) ]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TS-RAG </a:t>
            </a:r>
          </a:p>
          <a:p>
            <a:pPr marL="0" indent="0">
              <a:buNone/>
            </a:pPr>
            <a:r>
              <a:rPr lang="en-US" sz="2100" dirty="0"/>
              <a:t>[ Input Time Series ]</a:t>
            </a:r>
            <a:br>
              <a:rPr lang="en-US" sz="2100" dirty="0"/>
            </a:br>
            <a:r>
              <a:rPr lang="en-US" sz="2100" dirty="0"/>
              <a:t>        ↓</a:t>
            </a:r>
            <a:br>
              <a:rPr lang="en-US" sz="2100" dirty="0"/>
            </a:br>
            <a:r>
              <a:rPr lang="en-US" sz="2100" dirty="0"/>
              <a:t>   [ Retriever ]</a:t>
            </a:r>
            <a:br>
              <a:rPr lang="en-US" sz="2100" dirty="0"/>
            </a:br>
            <a:r>
              <a:rPr lang="en-US" sz="2100" dirty="0"/>
              <a:t>        ↓</a:t>
            </a:r>
            <a:br>
              <a:rPr lang="en-US" sz="2100" dirty="0"/>
            </a:br>
            <a:r>
              <a:rPr lang="en-US" sz="2100" dirty="0"/>
              <a:t>[ Retrieved Patterns ]</a:t>
            </a:r>
            <a:br>
              <a:rPr lang="en-US" sz="2100" dirty="0"/>
            </a:br>
            <a:r>
              <a:rPr lang="en-US" sz="2100" dirty="0"/>
              <a:t>        ↓</a:t>
            </a:r>
            <a:br>
              <a:rPr lang="en-US" sz="2100" dirty="0"/>
            </a:br>
            <a:r>
              <a:rPr lang="en-US" sz="2100" dirty="0"/>
              <a:t>[ ARM ]</a:t>
            </a:r>
            <a:br>
              <a:rPr lang="en-US" sz="2100" dirty="0"/>
            </a:br>
            <a:r>
              <a:rPr lang="en-US" sz="2100" dirty="0"/>
              <a:t>        ↓</a:t>
            </a:r>
            <a:br>
              <a:rPr lang="en-US" sz="2100" dirty="0"/>
            </a:br>
            <a:r>
              <a:rPr lang="en-US" sz="2100" dirty="0"/>
              <a:t>[ Chronos-Bolt ]</a:t>
            </a:r>
            <a:br>
              <a:rPr lang="en-US" sz="2100" dirty="0"/>
            </a:br>
            <a:r>
              <a:rPr lang="en-US" sz="2100" dirty="0"/>
              <a:t>        ↓</a:t>
            </a:r>
            <a:br>
              <a:rPr lang="en-US" sz="2100" dirty="0"/>
            </a:br>
            <a:r>
              <a:rPr lang="en-US" sz="2100" dirty="0"/>
              <a:t>[ Forecast (H) ]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52476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3F5E2-DB44-FD10-D254-487077EA6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FAB91-49E0-0055-6253-7FC4B9E97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Key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4EF23-ADFC-2D96-356F-A42F612B59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Retriever</a:t>
            </a:r>
            <a:br>
              <a:rPr lang="en-US" dirty="0"/>
            </a:br>
            <a:r>
              <a:rPr lang="en-US" dirty="0"/>
              <a:t>Finds similar past patterns</a:t>
            </a:r>
          </a:p>
          <a:p>
            <a:r>
              <a:rPr lang="en-US" dirty="0"/>
              <a:t> </a:t>
            </a:r>
            <a:r>
              <a:rPr lang="en-US" b="1" dirty="0"/>
              <a:t>Retrieved Data</a:t>
            </a:r>
            <a:br>
              <a:rPr lang="en-US" dirty="0"/>
            </a:br>
            <a:r>
              <a:rPr lang="en-US" dirty="0"/>
              <a:t>Shows what happened next before </a:t>
            </a:r>
          </a:p>
          <a:p>
            <a:r>
              <a:rPr lang="en-US" b="1" dirty="0"/>
              <a:t>ARM (Mixer)</a:t>
            </a:r>
            <a:br>
              <a:rPr lang="en-US" dirty="0"/>
            </a:br>
            <a:r>
              <a:rPr lang="en-US" dirty="0"/>
              <a:t>Combines input + retrieved info </a:t>
            </a:r>
          </a:p>
          <a:p>
            <a:r>
              <a:rPr lang="en-US" b="1" dirty="0"/>
              <a:t>Chronos-Bolt</a:t>
            </a:r>
            <a:br>
              <a:rPr lang="en-US" dirty="0"/>
            </a:br>
            <a:r>
              <a:rPr lang="en-US" dirty="0"/>
              <a:t>Makes the final prediction</a:t>
            </a:r>
          </a:p>
        </p:txBody>
      </p:sp>
    </p:spTree>
    <p:extLst>
      <p:ext uri="{BB962C8B-B14F-4D97-AF65-F5344CB8AC3E}">
        <p14:creationId xmlns:p14="http://schemas.microsoft.com/office/powerpoint/2010/main" val="3965135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42161-AF5A-6FC5-AB15-83AB79C8C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5D33C-38DF-A625-2FB7-8DBDA6AF2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Experiment Setup - </a:t>
            </a:r>
            <a:r>
              <a:rPr lang="en-US" sz="4000">
                <a:ea typeface="+mj-lt"/>
                <a:cs typeface="+mj-lt"/>
              </a:rPr>
              <a:t>What is being compared?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16739-EA63-4D78-6C00-D1212D06C6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>
              <a:buNone/>
            </a:pPr>
            <a:r>
              <a:rPr lang="en-US" sz="2000" b="1"/>
              <a:t>Compare</a:t>
            </a:r>
            <a:endParaRPr lang="en-US" sz="2000" dirty="0"/>
          </a:p>
          <a:p>
            <a:pPr lvl="1">
              <a:buNone/>
            </a:pPr>
            <a:r>
              <a:rPr lang="en-US" sz="2000" b="1" dirty="0">
                <a:solidFill>
                  <a:srgbClr val="FF0000"/>
                </a:solidFill>
              </a:rPr>
              <a:t>TS-RAG</a:t>
            </a:r>
            <a:r>
              <a:rPr lang="en-US" sz="2000" dirty="0"/>
              <a:t>, implemented as a retrieval-augmented model, i.e. </a:t>
            </a:r>
            <a:r>
              <a:rPr lang="en-US" sz="2000" dirty="0" err="1"/>
              <a:t>ChronosBoltRetrieve</a:t>
            </a:r>
            <a:endParaRPr lang="en-US" sz="2000" dirty="0"/>
          </a:p>
          <a:p>
            <a:pPr>
              <a:buNone/>
            </a:pPr>
            <a:r>
              <a:rPr lang="en-US" sz="2000" b="1"/>
              <a:t>With</a:t>
            </a:r>
            <a:endParaRPr lang="en-US" sz="2000" dirty="0"/>
          </a:p>
          <a:p>
            <a:pPr lvl="1">
              <a:buNone/>
            </a:pPr>
            <a:r>
              <a:rPr lang="en-US" sz="2000" dirty="0"/>
              <a:t>The </a:t>
            </a:r>
            <a:r>
              <a:rPr lang="en-US" sz="2000" b="1" dirty="0">
                <a:solidFill>
                  <a:srgbClr val="FF0000"/>
                </a:solidFill>
              </a:rPr>
              <a:t>non-retrieval</a:t>
            </a:r>
            <a:r>
              <a:rPr lang="en-US" sz="2000" dirty="0"/>
              <a:t> backbone model </a:t>
            </a:r>
            <a:r>
              <a:rPr lang="en-US" sz="2000" dirty="0" err="1"/>
              <a:t>ChronosBolt</a:t>
            </a:r>
            <a:endParaRPr lang="en-US" sz="2000" dirty="0"/>
          </a:p>
          <a:p>
            <a:pPr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b="1"/>
              <a:t>Platform</a:t>
            </a:r>
            <a:endParaRPr lang="en-US" sz="2000"/>
          </a:p>
          <a:p>
            <a:pPr marL="457200" lvl="1" indent="0">
              <a:buNone/>
            </a:pPr>
            <a:r>
              <a:rPr lang="en-US" sz="2000"/>
              <a:t>OS: Ubuntu 24.04</a:t>
            </a:r>
          </a:p>
          <a:p>
            <a:pPr marL="457200" lvl="1" indent="0">
              <a:buNone/>
            </a:pPr>
            <a:r>
              <a:rPr lang="en-US" sz="2000"/>
              <a:t>CPU: i9-9900k</a:t>
            </a:r>
            <a:endParaRPr lang="en-US" sz="2000" dirty="0"/>
          </a:p>
          <a:p>
            <a:pPr marL="457200" lvl="1" indent="0">
              <a:buNone/>
            </a:pPr>
            <a:r>
              <a:rPr lang="en-US" sz="2000"/>
              <a:t>GPU: Nvidia 3080</a:t>
            </a:r>
          </a:p>
          <a:p>
            <a:pPr marL="457200" lvl="1" indent="0">
              <a:buNone/>
            </a:pPr>
            <a:r>
              <a:rPr lang="en-US" sz="2000"/>
              <a:t>RAM: 32 GiB</a:t>
            </a:r>
            <a:endParaRPr lang="en-US" sz="2000" dirty="0"/>
          </a:p>
          <a:p>
            <a:pPr lvl="1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62248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C43ED-AE9B-B7F0-9074-110202AC8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DE26E-BA2E-83DD-E869-0BB5230CD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Experiment</a:t>
            </a:r>
            <a:r>
              <a:rPr lang="en-US" sz="4000"/>
              <a:t> Setup (Cont.) - Metrics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79BA06-BCF4-6C82-40F6-60626E18C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 b="1">
                <a:ea typeface="+mn-lt"/>
                <a:cs typeface="+mn-lt"/>
              </a:rPr>
              <a:t>MSE </a:t>
            </a:r>
            <a:r>
              <a:rPr lang="en-US" sz="2000">
                <a:ea typeface="+mn-lt"/>
                <a:cs typeface="+mn-lt"/>
              </a:rPr>
              <a:t>(Mean Squared Error) - </a:t>
            </a:r>
            <a:r>
              <a:rPr lang="en-US" sz="2000" b="1">
                <a:solidFill>
                  <a:srgbClr val="FF0000"/>
                </a:solidFill>
                <a:ea typeface="+mn-lt"/>
                <a:cs typeface="+mn-lt"/>
              </a:rPr>
              <a:t>measures prediction error</a:t>
            </a:r>
            <a:r>
              <a:rPr lang="en-US" sz="2000">
                <a:ea typeface="+mn-lt"/>
                <a:cs typeface="+mn-lt"/>
              </a:rPr>
              <a:t>, but it squares the errors, so </a:t>
            </a:r>
            <a:r>
              <a:rPr lang="en-US" sz="2000" b="1">
                <a:solidFill>
                  <a:srgbClr val="FF0000"/>
                </a:solidFill>
                <a:ea typeface="+mn-lt"/>
                <a:cs typeface="+mn-lt"/>
              </a:rPr>
              <a:t>it </a:t>
            </a:r>
            <a:r>
              <a:rPr lang="en-US" sz="2000">
                <a:ea typeface="+mn-lt"/>
                <a:cs typeface="+mn-lt"/>
              </a:rPr>
              <a:t>penalizes larger mistakes more heavily. That makes it useful when big forecasting misses are especially undesirable.</a:t>
            </a:r>
          </a:p>
          <a:p>
            <a:endParaRPr lang="en-US" sz="2000" dirty="0">
              <a:ea typeface="+mn-lt"/>
              <a:cs typeface="+mn-lt"/>
            </a:endParaRPr>
          </a:p>
          <a:p>
            <a:r>
              <a:rPr lang="en-US" sz="2000" b="1">
                <a:ea typeface="+mn-lt"/>
                <a:cs typeface="+mn-lt"/>
              </a:rPr>
              <a:t>MAE </a:t>
            </a:r>
            <a:r>
              <a:rPr lang="en-US" sz="2000">
                <a:ea typeface="+mn-lt"/>
                <a:cs typeface="+mn-lt"/>
              </a:rPr>
              <a:t>(Mean Absolute Error) - </a:t>
            </a:r>
            <a:r>
              <a:rPr lang="en-US" sz="2000" b="1">
                <a:solidFill>
                  <a:srgbClr val="FF0000"/>
                </a:solidFill>
                <a:ea typeface="+mn-lt"/>
                <a:cs typeface="+mn-lt"/>
              </a:rPr>
              <a:t>measures the average absolute difference between the forecast and the true values</a:t>
            </a:r>
            <a:r>
              <a:rPr lang="en-US" sz="2000">
                <a:ea typeface="+mn-lt"/>
                <a:cs typeface="+mn-lt"/>
              </a:rPr>
              <a:t>. It is easy to interpret because it tells you the typical size of the model’s error.</a:t>
            </a:r>
          </a:p>
          <a:p>
            <a:endParaRPr lang="en-US" sz="2000" dirty="0">
              <a:ea typeface="+mn-lt"/>
              <a:cs typeface="+mn-lt"/>
            </a:endParaRPr>
          </a:p>
          <a:p>
            <a:pPr>
              <a:buNone/>
            </a:pPr>
            <a:r>
              <a:rPr lang="en-US" sz="2000">
                <a:ea typeface="+mn-lt"/>
                <a:cs typeface="+mn-lt"/>
              </a:rPr>
              <a:t>Using both metrics gives a more balanced evaluation: </a:t>
            </a:r>
            <a:r>
              <a:rPr lang="en-US" sz="2000" b="1">
                <a:ea typeface="+mn-lt"/>
                <a:cs typeface="+mn-lt"/>
              </a:rPr>
              <a:t>MAE shows overall average error</a:t>
            </a:r>
            <a:r>
              <a:rPr lang="en-US" sz="2000">
                <a:ea typeface="+mn-lt"/>
                <a:cs typeface="+mn-lt"/>
              </a:rPr>
              <a:t>,</a:t>
            </a:r>
            <a:endParaRPr lang="en-US"/>
          </a:p>
          <a:p>
            <a:pPr>
              <a:buNone/>
            </a:pPr>
            <a:r>
              <a:rPr lang="en-US" sz="2000" dirty="0">
                <a:ea typeface="+mn-lt"/>
                <a:cs typeface="+mn-lt"/>
              </a:rPr>
              <a:t>while </a:t>
            </a:r>
            <a:r>
              <a:rPr lang="en-US" sz="2000" b="1">
                <a:ea typeface="+mn-lt"/>
                <a:cs typeface="+mn-lt"/>
              </a:rPr>
              <a:t>MSE shows whether the model sometimes makes especially large mistakes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>
              <a:ea typeface="+mn-lt"/>
              <a:cs typeface="+mn-lt"/>
            </a:endParaRPr>
          </a:p>
          <a:p>
            <a:pPr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586971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3EC1-10F8-6D7B-1714-64916FBB2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8D23D-C0A7-F678-C5E7-A87D5D081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ea typeface="+mj-lt"/>
                <a:cs typeface="+mj-lt"/>
              </a:rPr>
              <a:t>Experiment Setup (</a:t>
            </a:r>
            <a:r>
              <a:rPr lang="en-US" sz="4000">
                <a:ea typeface="+mj-lt"/>
                <a:cs typeface="+mj-lt"/>
              </a:rPr>
              <a:t>Cont.) - Datasets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6ED0DF-4BBD-A6A6-54D3-1E037EA526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000">
                <a:ea typeface="+mn-lt"/>
                <a:cs typeface="+mn-lt"/>
              </a:rPr>
              <a:t>ETTh1, ETTh2, ETTm1, ETTm2, Weather, Exchange, and Electricity (ECL) are common benchmark datasets in time-series forecasting. Our reproduction used only ETTh1, but the repo supports </a:t>
            </a:r>
            <a:r>
              <a:rPr lang="en-US" sz="2000" dirty="0">
                <a:ea typeface="+mn-lt"/>
                <a:cs typeface="+mn-lt"/>
              </a:rPr>
              <a:t>the following datasets:</a:t>
            </a:r>
            <a:endParaRPr lang="en-US" sz="2000" dirty="0"/>
          </a:p>
          <a:p>
            <a:pPr>
              <a:buNone/>
            </a:pPr>
            <a:endParaRPr lang="en-US" sz="2000" dirty="0"/>
          </a:p>
          <a:p>
            <a:r>
              <a:rPr lang="en-US" sz="2000" b="1">
                <a:ea typeface="+mn-lt"/>
                <a:cs typeface="+mn-lt"/>
              </a:rPr>
              <a:t>ETTh1, ETTh2, ETTm1, ETTm2</a:t>
            </a:r>
            <a:r>
              <a:rPr lang="en-US" sz="2000">
                <a:ea typeface="+mn-lt"/>
                <a:cs typeface="+mn-lt"/>
              </a:rPr>
              <a:t>: four subsets of the Electricity Transformer Temperature (ETT) dataset.</a:t>
            </a:r>
          </a:p>
          <a:p>
            <a:r>
              <a:rPr lang="en-US" sz="2000" b="1">
                <a:ea typeface="+mn-lt"/>
                <a:cs typeface="+mn-lt"/>
              </a:rPr>
              <a:t>Weather:</a:t>
            </a:r>
            <a:r>
              <a:rPr lang="en-US" sz="2000">
                <a:ea typeface="+mn-lt"/>
                <a:cs typeface="+mn-lt"/>
              </a:rPr>
              <a:t> a multivariate weather forecasting dataset commonly used in long-horizon benchmarks.</a:t>
            </a:r>
          </a:p>
          <a:p>
            <a:r>
              <a:rPr lang="en-US" sz="2000" b="1">
                <a:ea typeface="+mn-lt"/>
                <a:cs typeface="+mn-lt"/>
              </a:rPr>
              <a:t>Exchange:</a:t>
            </a:r>
            <a:r>
              <a:rPr lang="en-US" sz="2000">
                <a:ea typeface="+mn-lt"/>
                <a:cs typeface="+mn-lt"/>
              </a:rPr>
              <a:t> currency exchange-rate.</a:t>
            </a:r>
          </a:p>
          <a:p>
            <a:r>
              <a:rPr lang="en-US" sz="2000" b="1">
                <a:ea typeface="+mn-lt"/>
                <a:cs typeface="+mn-lt"/>
              </a:rPr>
              <a:t>Electricity / ECL:</a:t>
            </a:r>
            <a:r>
              <a:rPr lang="en-US" sz="2000">
                <a:ea typeface="+mn-lt"/>
                <a:cs typeface="+mn-lt"/>
              </a:rPr>
              <a:t> the electricity load dataset; “ECL” is the short name commonly used in papers and benchmark libraries.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9166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4C447-68CC-970B-B836-B154CE380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C283D-565D-ADB4-21FC-FE2210C1C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/>
              <a:t>Run Results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F8985-1230-970B-E60B-7EFCD30E5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000" dirty="0"/>
              <a:t>The model successfully completed a zero-shot forecasting run on </a:t>
            </a:r>
            <a:r>
              <a:rPr lang="en-US" sz="2000" dirty="0">
                <a:ea typeface="+mn-lt"/>
                <a:cs typeface="+mn-lt"/>
              </a:rPr>
              <a:t>ETTh1, ETTh2, ETTm1, </a:t>
            </a:r>
            <a:r>
              <a:rPr lang="en-US" sz="2000">
                <a:ea typeface="+mn-lt"/>
                <a:cs typeface="+mn-lt"/>
              </a:rPr>
              <a:t>ETTm2, and Weather</a:t>
            </a:r>
            <a:r>
              <a:rPr lang="en-US" sz="2000"/>
              <a:t>.</a:t>
            </a:r>
            <a:endParaRPr lang="en-US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/>
              <a:t>As </a:t>
            </a:r>
            <a:r>
              <a:rPr lang="en-US" sz="2000" b="1"/>
              <a:t>input</a:t>
            </a:r>
            <a:r>
              <a:rPr lang="en-US" sz="2000"/>
              <a:t>, it used </a:t>
            </a:r>
            <a:r>
              <a:rPr lang="en-US" sz="2000" b="1" dirty="0">
                <a:solidFill>
                  <a:srgbClr val="FF0000"/>
                </a:solidFill>
              </a:rPr>
              <a:t>512 past time-steps</a:t>
            </a:r>
            <a:r>
              <a:rPr lang="en-US" sz="2000" dirty="0"/>
              <a:t>, as </a:t>
            </a:r>
            <a:r>
              <a:rPr lang="en-US" sz="2000" b="1" dirty="0"/>
              <a:t>output</a:t>
            </a:r>
            <a:r>
              <a:rPr lang="en-US" sz="2000" dirty="0"/>
              <a:t> it predicted the next </a:t>
            </a:r>
            <a:r>
              <a:rPr lang="en-US" sz="2000" b="1" dirty="0">
                <a:solidFill>
                  <a:srgbClr val="FF0000"/>
                </a:solidFill>
              </a:rPr>
              <a:t>64 future-timesteps</a:t>
            </a:r>
            <a:r>
              <a:rPr lang="en-US" sz="2000" dirty="0"/>
              <a:t>.</a:t>
            </a:r>
            <a:endParaRPr lang="en-US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/>
              <a:t>We can use this output data to argue </a:t>
            </a:r>
            <a:r>
              <a:rPr lang="en-US" sz="2000" b="1" dirty="0">
                <a:solidFill>
                  <a:srgbClr val="FF0000"/>
                </a:solidFill>
              </a:rPr>
              <a:t>that TS-RAG improves zero-shot forecasting</a:t>
            </a:r>
            <a:r>
              <a:rPr lang="en-US" sz="2000" dirty="0"/>
              <a:t> by comparing it </a:t>
            </a:r>
            <a:r>
              <a:rPr lang="en-US" sz="2000"/>
              <a:t>against other TSFMs and RAF.</a:t>
            </a:r>
          </a:p>
          <a:p>
            <a:pPr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82132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38B8D-A343-0CAC-9308-A89F73B91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Run </a:t>
            </a:r>
            <a:r>
              <a:rPr lang="en-US" sz="4000"/>
              <a:t>Results (cont.) - ETTh1</a:t>
            </a:r>
            <a:endParaRPr lang="en-US" sz="4000" dirty="0"/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815880AF-4452-82AE-A4A4-1451C497075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8465303"/>
              </p:ext>
            </p:extLst>
          </p:nvPr>
        </p:nvGraphicFramePr>
        <p:xfrm>
          <a:off x="1728577" y="1547273"/>
          <a:ext cx="8750175" cy="45702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7259155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93293-D2F9-2884-BF8A-FB53D58C4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/>
              <a:t>Run Results (cont.) - ETTh1</a:t>
            </a:r>
            <a:endParaRPr lang="en-US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7230FBBE-9CC7-F59C-B17B-CBD3C9C0AD7F}"/>
              </a:ext>
              <a:ext uri="{147F2762-F138-4A5C-976F-8EAC2B608ADB}">
                <a16:predDERef xmlns:a16="http://schemas.microsoft.com/office/drawing/2014/main" pred="{815880AF-4452-82AE-A4A4-1451C497075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60204357"/>
              </p:ext>
            </p:extLst>
          </p:nvPr>
        </p:nvGraphicFramePr>
        <p:xfrm>
          <a:off x="2294050" y="1715172"/>
          <a:ext cx="7617048" cy="41920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2929807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8AF5748-FED8-45BA-8631-26D1D10F32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514DA61-065B-9DCC-53A2-1F5FAA7D8DF3}"/>
              </a:ext>
            </a:extLst>
          </p:cNvPr>
          <p:cNvSpPr>
            <a:spLocks noGrp="1"/>
          </p:cNvSpPr>
          <p:nvPr/>
        </p:nvSpPr>
        <p:spPr>
          <a:xfrm>
            <a:off x="477981" y="1122363"/>
            <a:ext cx="4023360" cy="320413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kern="1200">
                <a:latin typeface="+mj-lt"/>
                <a:ea typeface="+mj-ea"/>
                <a:cs typeface="+mj-cs"/>
              </a:rPr>
              <a:t>How do </a:t>
            </a:r>
            <a:r>
              <a:rPr lang="en-US" sz="4800"/>
              <a:t>our </a:t>
            </a:r>
            <a:r>
              <a:rPr lang="en-US" sz="4800" dirty="0"/>
              <a:t>results compare</a:t>
            </a:r>
            <a:r>
              <a:rPr lang="en-US" sz="4800" kern="1200" dirty="0">
                <a:latin typeface="+mj-lt"/>
                <a:ea typeface="+mj-ea"/>
                <a:cs typeface="+mj-cs"/>
              </a:rPr>
              <a:t> to </a:t>
            </a:r>
            <a:r>
              <a:rPr lang="en-US" sz="4800" dirty="0"/>
              <a:t>the </a:t>
            </a:r>
            <a:r>
              <a:rPr lang="en-US" sz="4800"/>
              <a:t>paper's results?</a:t>
            </a:r>
            <a:endParaRPr lang="en-US" sz="4800" kern="1200">
              <a:latin typeface="+mj-lt"/>
              <a:ea typeface="+mj-ea"/>
              <a:cs typeface="+mj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6374C14C-9580-482F-69B0-10F3332B3F96}"/>
              </a:ext>
            </a:extLst>
          </p:cNvPr>
          <p:cNvSpPr txBox="1"/>
          <p:nvPr/>
        </p:nvSpPr>
        <p:spPr>
          <a:xfrm>
            <a:off x="5391301" y="6041338"/>
            <a:ext cx="5850610" cy="92333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/>
              <a:t>Note: </a:t>
            </a:r>
            <a:r>
              <a:rPr lang="en-US"/>
              <a:t>Values are in MSE. Average excludes Electricity and Exchange datasets.</a:t>
            </a:r>
          </a:p>
          <a:p>
            <a:pPr algn="ctr"/>
            <a:endParaRPr lang="en-US" b="1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F620C71-DBB3-CA78-EAB9-29C5D70535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7503295"/>
              </p:ext>
            </p:extLst>
          </p:nvPr>
        </p:nvGraphicFramePr>
        <p:xfrm>
          <a:off x="5243593" y="619932"/>
          <a:ext cx="6146160" cy="5242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4189">
                  <a:extLst>
                    <a:ext uri="{9D8B030D-6E8A-4147-A177-3AD203B41FA5}">
                      <a16:colId xmlns:a16="http://schemas.microsoft.com/office/drawing/2014/main" val="4049919890"/>
                    </a:ext>
                  </a:extLst>
                </a:gridCol>
                <a:gridCol w="1996832">
                  <a:extLst>
                    <a:ext uri="{9D8B030D-6E8A-4147-A177-3AD203B41FA5}">
                      <a16:colId xmlns:a16="http://schemas.microsoft.com/office/drawing/2014/main" val="1964046921"/>
                    </a:ext>
                  </a:extLst>
                </a:gridCol>
                <a:gridCol w="2075139">
                  <a:extLst>
                    <a:ext uri="{9D8B030D-6E8A-4147-A177-3AD203B41FA5}">
                      <a16:colId xmlns:a16="http://schemas.microsoft.com/office/drawing/2014/main" val="3905797602"/>
                    </a:ext>
                  </a:extLst>
                </a:gridCol>
              </a:tblGrid>
              <a:tr h="58251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000" b="1" i="0" u="none" strike="noStrike" noProof="0">
                          <a:latin typeface="Aptos"/>
                        </a:rPr>
                        <a:t>Dataset</a:t>
                      </a:r>
                      <a:endParaRPr lang="en-US" sz="20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/>
                        <a:t>Our results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/>
                        <a:t>Paper's results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5150632"/>
                  </a:ext>
                </a:extLst>
              </a:tr>
              <a:tr h="58251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noProof="0">
                          <a:latin typeface="Aptos"/>
                        </a:rPr>
                        <a:t>ETTh1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noProof="0">
                          <a:latin typeface="Aptos"/>
                        </a:rPr>
                        <a:t>0.3556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noProof="0">
                          <a:latin typeface="Aptos"/>
                        </a:rPr>
                        <a:t>0.3557</a:t>
                      </a:r>
                      <a:endParaRPr 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9841907"/>
                  </a:ext>
                </a:extLst>
              </a:tr>
              <a:tr h="58251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noProof="0">
                          <a:latin typeface="Aptos"/>
                        </a:rPr>
                        <a:t>ETTh2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noProof="0">
                          <a:latin typeface="Aptos"/>
                        </a:rPr>
                        <a:t>0.2451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noProof="0">
                          <a:latin typeface="Aptos"/>
                        </a:rPr>
                        <a:t>0.2451</a:t>
                      </a:r>
                      <a:endParaRPr 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77583032"/>
                  </a:ext>
                </a:extLst>
              </a:tr>
              <a:tr h="58251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noProof="0">
                          <a:latin typeface="Aptos"/>
                        </a:rPr>
                        <a:t>ETTm1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noProof="0">
                          <a:latin typeface="Aptos"/>
                        </a:rPr>
                        <a:t>0.2904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noProof="0">
                          <a:latin typeface="Aptos"/>
                        </a:rPr>
                        <a:t>0.2906</a:t>
                      </a:r>
                      <a:endParaRPr 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0771528"/>
                  </a:ext>
                </a:extLst>
              </a:tr>
              <a:tr h="58251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noProof="0">
                          <a:latin typeface="Aptos"/>
                        </a:rPr>
                        <a:t>ETTm2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noProof="0">
                          <a:latin typeface="Aptos"/>
                        </a:rPr>
                        <a:t>0.1465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noProof="0">
                          <a:latin typeface="Aptos"/>
                        </a:rPr>
                        <a:t>0.1466</a:t>
                      </a:r>
                      <a:endParaRPr 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5431150"/>
                  </a:ext>
                </a:extLst>
              </a:tr>
              <a:tr h="58251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noProof="0">
                          <a:latin typeface="Aptos"/>
                        </a:rPr>
                        <a:t>Weather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noProof="0">
                          <a:latin typeface="Aptos"/>
                        </a:rPr>
                        <a:t>0.1453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noProof="0">
                          <a:latin typeface="Aptos"/>
                        </a:rPr>
                        <a:t>0.1454</a:t>
                      </a:r>
                      <a:endParaRPr 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7409809"/>
                  </a:ext>
                </a:extLst>
              </a:tr>
              <a:tr h="58251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noProof="0">
                          <a:latin typeface="Aptos"/>
                        </a:rPr>
                        <a:t>Electricity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noProof="0">
                          <a:latin typeface="Aptos"/>
                        </a:rPr>
                        <a:t>N/A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noProof="0">
                          <a:latin typeface="Aptos"/>
                        </a:rPr>
                        <a:t>0.1120</a:t>
                      </a:r>
                      <a:endParaRPr 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7461000"/>
                  </a:ext>
                </a:extLst>
              </a:tr>
              <a:tr h="58251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noProof="0">
                          <a:latin typeface="Aptos"/>
                        </a:rPr>
                        <a:t>Exchange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noProof="0">
                          <a:latin typeface="Aptos"/>
                        </a:rPr>
                        <a:t>N/A</a:t>
                      </a:r>
                      <a:endParaRPr 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noProof="0">
                          <a:latin typeface="Aptos"/>
                        </a:rPr>
                        <a:t>0.0627</a:t>
                      </a:r>
                      <a:endParaRPr 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07688977"/>
                  </a:ext>
                </a:extLst>
              </a:tr>
              <a:tr h="58251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noProof="0">
                          <a:latin typeface="Aptos"/>
                        </a:rPr>
                        <a:t>Average</a:t>
                      </a:r>
                      <a:endParaRPr lang="en-US" sz="1800" b="0" i="0" u="none" strike="noStrike" noProof="0">
                        <a:latin typeface="Apto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noProof="0"/>
                        <a:t>0.23658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noProof="0"/>
                        <a:t>0.23668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27746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56170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D9C7A-A270-A8E7-26EB-4D6F58ED0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Critical </a:t>
            </a:r>
            <a:r>
              <a:rPr lang="en-US" sz="4000">
                <a:ea typeface="+mj-lt"/>
                <a:cs typeface="+mj-lt"/>
              </a:rPr>
              <a:t>Insight</a:t>
            </a:r>
            <a:r>
              <a:rPr lang="en-US" sz="4000"/>
              <a:t> and </a:t>
            </a:r>
            <a:r>
              <a:rPr lang="en-US" sz="4000">
                <a:ea typeface="+mj-lt"/>
                <a:cs typeface="+mj-lt"/>
              </a:rPr>
              <a:t>Limitations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638C5-9DC7-5CD3-FA50-BE02DE376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457200" indent="-457200">
              <a:buAutoNum type="arabicPeriod"/>
            </a:pPr>
            <a:r>
              <a:rPr lang="en-US" sz="2000">
                <a:ea typeface="+mn-lt"/>
                <a:cs typeface="+mn-lt"/>
              </a:rPr>
              <a:t>TS-RAG improves forecasting without changing the backbone model.</a:t>
            </a:r>
            <a:endParaRPr lang="en-US" sz="2000" dirty="0">
              <a:ea typeface="+mn-lt"/>
              <a:cs typeface="+mn-lt"/>
            </a:endParaRPr>
          </a:p>
          <a:p>
            <a:pPr marL="457200" lvl="1" indent="0">
              <a:buNone/>
            </a:pPr>
            <a:endParaRPr lang="en-US" sz="2000" dirty="0">
              <a:ea typeface="+mn-lt"/>
              <a:cs typeface="+mn-lt"/>
            </a:endParaRPr>
          </a:p>
          <a:p>
            <a:pPr marL="457200" lvl="1" indent="0">
              <a:buNone/>
            </a:pPr>
            <a:r>
              <a:rPr lang="en-US" sz="2000" dirty="0">
                <a:ea typeface="+mn-lt"/>
                <a:cs typeface="+mn-lt"/>
              </a:rPr>
              <a:t>Instead of attempting to improves performance by training a bigger model, it does so by retrieving context - historical patterns. Then mixing those patterns into the prediction process.</a:t>
            </a:r>
            <a:endParaRPr lang="en-US" sz="2000"/>
          </a:p>
          <a:p>
            <a:pPr marL="457200" lvl="1" indent="0">
              <a:buNone/>
            </a:pPr>
            <a:endParaRPr lang="en-US" sz="2000" dirty="0">
              <a:ea typeface="+mn-lt"/>
              <a:cs typeface="+mn-lt"/>
            </a:endParaRPr>
          </a:p>
          <a:p>
            <a:pPr marL="457200" lvl="1" indent="0">
              <a:buNone/>
            </a:pPr>
            <a:r>
              <a:rPr lang="en-US" sz="2000">
                <a:ea typeface="+mn-lt"/>
                <a:cs typeface="+mn-lt"/>
              </a:rPr>
              <a:t>This stood out to us because it suggests that,</a:t>
            </a:r>
            <a:r>
              <a:rPr lang="en-US" sz="2000" b="1">
                <a:solidFill>
                  <a:srgbClr val="FF0000"/>
                </a:solidFill>
                <a:ea typeface="+mn-lt"/>
                <a:cs typeface="+mn-lt"/>
              </a:rPr>
              <a:t> in zero-shot forecasting, having the right context may be just as important as having a stronger model</a:t>
            </a:r>
            <a:r>
              <a:rPr lang="en-US" sz="2000">
                <a:ea typeface="+mn-lt"/>
                <a:cs typeface="+mn-lt"/>
              </a:rPr>
              <a:t>.</a:t>
            </a:r>
            <a:endParaRPr lang="en-US" sz="200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2. I would have liked to have been able to run Exchange and Electricity datasets to have </a:t>
            </a:r>
            <a:r>
              <a:rPr lang="en-US" sz="2000"/>
              <a:t>a</a:t>
            </a:r>
            <a:br>
              <a:rPr lang="en-US" sz="2000" dirty="0"/>
            </a:br>
            <a:r>
              <a:rPr lang="en-US" sz="2000"/>
              <a:t>     complete comparison.</a:t>
            </a:r>
          </a:p>
          <a:p>
            <a:pPr>
              <a:buAutoNum type="arabicPeriod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160966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61B2F-17AA-8174-A7A2-F627D73CA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35F305-F562-E610-AB47-B4DB0CEE9E58}"/>
              </a:ext>
            </a:extLst>
          </p:cNvPr>
          <p:cNvSpPr txBox="1"/>
          <p:nvPr/>
        </p:nvSpPr>
        <p:spPr>
          <a:xfrm>
            <a:off x="837127" y="4824211"/>
            <a:ext cx="6096000" cy="18466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/>
            <a:r>
              <a:rPr lang="en-US" sz="1600" b="0" i="0" u="none" strike="noStrike" baseline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Intelligent Systems - CSC 500</a:t>
            </a:r>
            <a:r>
              <a:rPr lang="en-US" sz="1600" b="0" i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600" b="0" i="0" u="none" strike="noStrike" baseline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Dr. Sahoo</a:t>
            </a:r>
            <a:r>
              <a:rPr lang="en-US" sz="1600" b="0" i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600" b="0" i="0" u="none" strike="noStrike" baseline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Quinnipiac University</a:t>
            </a:r>
            <a:r>
              <a:rPr lang="en-US" sz="1600" b="0" i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600" b="0" i="0" u="none" strike="noStrike" baseline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April 21, 2026</a:t>
            </a:r>
            <a:r>
              <a:rPr lang="en-US" sz="1600" b="0" i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600" b="0" i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 algn="l" rtl="0"/>
            <a:r>
              <a:rPr lang="en-US" sz="1600" b="0" i="0" u="none" strike="noStrike" baseline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Repo: </a:t>
            </a:r>
            <a:r>
              <a:rPr lang="en-US" sz="1600" b="0" i="1" u="none" strike="noStrike" baseline="0">
                <a:solidFill>
                  <a:srgbClr val="122BE3"/>
                </a:solidFill>
                <a:latin typeface="Aptos"/>
                <a:ea typeface="Segoe UI"/>
                <a:cs typeface="Segoe UI"/>
              </a:rPr>
              <a:t>https://github.com/UConn-DSIS/TS-RAG</a:t>
            </a:r>
            <a:r>
              <a:rPr lang="en-US" sz="1600" b="0" i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C79663-E7B3-3F09-ABE1-B773C1135E0C}"/>
              </a:ext>
            </a:extLst>
          </p:cNvPr>
          <p:cNvSpPr txBox="1"/>
          <p:nvPr/>
        </p:nvSpPr>
        <p:spPr>
          <a:xfrm>
            <a:off x="837127" y="3429000"/>
            <a:ext cx="6096000" cy="129266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>
                <a:solidFill>
                  <a:srgbClr val="000000"/>
                </a:solidFill>
                <a:latin typeface="Aptos"/>
                <a:cs typeface="Segoe UI"/>
              </a:rPr>
              <a:t>Group members</a:t>
            </a:r>
            <a:r>
              <a:rPr lang="en-US" sz="2000">
                <a:solidFill>
                  <a:srgbClr val="000000"/>
                </a:solidFill>
                <a:latin typeface="Aptos"/>
                <a:cs typeface="Segoe UI"/>
              </a:rPr>
              <a:t>​</a:t>
            </a:r>
            <a:endParaRPr lang="en-US"/>
          </a:p>
          <a:p>
            <a:pPr algn="l" rtl="0"/>
            <a:r>
              <a:rPr lang="en-US" sz="2000" b="0" i="0" u="none" strike="noStrike" baseline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Zoe Rochelle</a:t>
            </a:r>
            <a:r>
              <a:rPr lang="en-US" sz="2000" b="0" i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  <a:endParaRPr lang="en-US"/>
          </a:p>
          <a:p>
            <a:pPr algn="l" rtl="0"/>
            <a:r>
              <a:rPr lang="en-US" sz="2000" b="0" i="0" u="none" strike="noStrike" baseline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Sarah </a:t>
            </a:r>
            <a:r>
              <a:rPr lang="en-US" sz="2000" b="0" i="0" u="none" strike="noStrike" baseline="0" dirty="0" err="1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Quraishy</a:t>
            </a:r>
            <a:r>
              <a:rPr lang="en-US" sz="2000" b="0" i="0" dirty="0">
                <a:solidFill>
                  <a:srgbClr val="000000"/>
                </a:solidFill>
                <a:latin typeface="Aptos"/>
                <a:ea typeface="Segoe UI"/>
                <a:cs typeface="Segoe UI"/>
              </a:rPr>
              <a:t>​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628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916</Words>
  <Application>Microsoft Office PowerPoint</Application>
  <PresentationFormat>Widescreen</PresentationFormat>
  <Paragraphs>99</Paragraphs>
  <Slides>15</Slides>
  <Notes>5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Code Review TS-RAG: Retrieval-Augmented Generation based Time Series Foundation Models are Stronger Zero-Shot Forecaster</vt:lpstr>
      <vt:lpstr>Problem/Motivation</vt:lpstr>
      <vt:lpstr>What is this repo proposing?</vt:lpstr>
      <vt:lpstr>Key Terms</vt:lpstr>
      <vt:lpstr>System/Architecture Diagram</vt:lpstr>
      <vt:lpstr>Key Modules</vt:lpstr>
      <vt:lpstr>Experiment Setup - What is being compared?</vt:lpstr>
      <vt:lpstr>Experiment Setup (Cont.) - Metrics</vt:lpstr>
      <vt:lpstr>Experiment Setup (Cont.) - Datasets</vt:lpstr>
      <vt:lpstr>Run Results</vt:lpstr>
      <vt:lpstr>Run Results (cont.) - ETTh1</vt:lpstr>
      <vt:lpstr>Run Results (cont.) - ETTh1</vt:lpstr>
      <vt:lpstr>PowerPoint Presentation</vt:lpstr>
      <vt:lpstr>Critical Insight and Limitations</vt:lpstr>
      <vt:lpstr>End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Quraishy, Sarah</cp:lastModifiedBy>
  <cp:revision>769</cp:revision>
  <dcterms:created xsi:type="dcterms:W3CDTF">2026-03-24T23:51:18Z</dcterms:created>
  <dcterms:modified xsi:type="dcterms:W3CDTF">2026-04-22T21:59:19Z</dcterms:modified>
</cp:coreProperties>
</file>
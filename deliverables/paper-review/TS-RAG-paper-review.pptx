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80" r:id="rId2"/>
    <p:sldId id="259" r:id="rId3"/>
    <p:sldId id="277" r:id="rId4"/>
    <p:sldId id="276" r:id="rId5"/>
    <p:sldId id="278" r:id="rId6"/>
    <p:sldId id="263" r:id="rId7"/>
    <p:sldId id="279" r:id="rId8"/>
    <p:sldId id="273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9097E38-CE9F-94DD-933C-5950183B61F4}" name="Zoe Rochelle II" initials="ZI" userId="1479fce0824242b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74EB82-FA32-2580-8DFC-FA3595B71E67}" v="477" dt="2026-04-22T22:25:30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quinnipiacuniversity-my.sharepoint.com/personal/zrochelle_quinnipiac_edu/Documents/Book%20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quinnipiacuniversity-my.sharepoint.com/personal/zrochelle_quinnipiac_edu/Documents/Book%20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Sheet1!$A$3</c:f>
              <c:strCache>
                <c:ptCount val="1"/>
                <c:pt idx="0">
                  <c:v>ETTh1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Sheet1!$B$2:$I$2</c:f>
              <c:strCache>
                <c:ptCount val="8"/>
                <c:pt idx="0">
                  <c:v>TS-RAG</c:v>
                </c:pt>
                <c:pt idx="1">
                  <c:v>Chronos-Bolt</c:v>
                </c:pt>
                <c:pt idx="2">
                  <c:v>MOMENT</c:v>
                </c:pt>
                <c:pt idx="3">
                  <c:v>TTM</c:v>
                </c:pt>
                <c:pt idx="4">
                  <c:v>Moirai</c:v>
                </c:pt>
                <c:pt idx="5">
                  <c:v>TimesFM</c:v>
                </c:pt>
                <c:pt idx="6">
                  <c:v>Chronos</c:v>
                </c:pt>
                <c:pt idx="7">
                  <c:v>Time-MoE</c:v>
                </c:pt>
              </c:strCache>
            </c:strRef>
          </c:cat>
          <c:val>
            <c:numRef>
              <c:f>Sheet1!$B$3:$I$3</c:f>
              <c:numCache>
                <c:formatCode>General</c:formatCode>
                <c:ptCount val="8"/>
                <c:pt idx="0">
                  <c:v>0.35570000000000002</c:v>
                </c:pt>
                <c:pt idx="1">
                  <c:v>0.36159999999999998</c:v>
                </c:pt>
                <c:pt idx="2">
                  <c:v>0.39200000000000002</c:v>
                </c:pt>
                <c:pt idx="3">
                  <c:v>0.3619</c:v>
                </c:pt>
                <c:pt idx="4">
                  <c:v>0.36859999999999998</c:v>
                </c:pt>
                <c:pt idx="5">
                  <c:v>0.4254</c:v>
                </c:pt>
                <c:pt idx="6">
                  <c:v>0.42170000000000002</c:v>
                </c:pt>
                <c:pt idx="7">
                  <c:v>0.36230000000000001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79-4A3E-A376-A9CC7B0CF1A1}"/>
            </c:ext>
          </c:extLst>
        </c:ser>
        <c:ser>
          <c:idx val="1"/>
          <c:order val="1"/>
          <c:tx>
            <c:strRef>
              <c:f>Sheet1!$A$4</c:f>
              <c:strCache>
                <c:ptCount val="1"/>
                <c:pt idx="0">
                  <c:v>ETTh2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Sheet1!$B$2:$I$2</c:f>
              <c:strCache>
                <c:ptCount val="8"/>
                <c:pt idx="0">
                  <c:v>TS-RAG</c:v>
                </c:pt>
                <c:pt idx="1">
                  <c:v>Chronos-Bolt</c:v>
                </c:pt>
                <c:pt idx="2">
                  <c:v>MOMENT</c:v>
                </c:pt>
                <c:pt idx="3">
                  <c:v>TTM</c:v>
                </c:pt>
                <c:pt idx="4">
                  <c:v>Moirai</c:v>
                </c:pt>
                <c:pt idx="5">
                  <c:v>TimesFM</c:v>
                </c:pt>
                <c:pt idx="6">
                  <c:v>Chronos</c:v>
                </c:pt>
                <c:pt idx="7">
                  <c:v>Time-MoE</c:v>
                </c:pt>
              </c:strCache>
            </c:strRef>
          </c:cat>
          <c:val>
            <c:numRef>
              <c:f>Sheet1!$B$4:$I$4</c:f>
              <c:numCache>
                <c:formatCode>General</c:formatCode>
                <c:ptCount val="8"/>
                <c:pt idx="0">
                  <c:v>0.24510000000000001</c:v>
                </c:pt>
                <c:pt idx="1">
                  <c:v>0.25169999999999998</c:v>
                </c:pt>
                <c:pt idx="2">
                  <c:v>0.2742</c:v>
                </c:pt>
                <c:pt idx="3">
                  <c:v>0.25309999999999999</c:v>
                </c:pt>
                <c:pt idx="4">
                  <c:v>0.25469999999999998</c:v>
                </c:pt>
                <c:pt idx="5">
                  <c:v>0.28939999999999999</c:v>
                </c:pt>
                <c:pt idx="6">
                  <c:v>0.26590000000000003</c:v>
                </c:pt>
                <c:pt idx="7">
                  <c:v>0.25209999999999999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79-4A3E-A376-A9CC7B0CF1A1}"/>
            </c:ext>
          </c:extLst>
        </c:ser>
        <c:ser>
          <c:idx val="2"/>
          <c:order val="2"/>
          <c:tx>
            <c:strRef>
              <c:f>Sheet1!$A$5</c:f>
              <c:strCache>
                <c:ptCount val="1"/>
                <c:pt idx="0">
                  <c:v>ETTm1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Sheet1!$B$2:$I$2</c:f>
              <c:strCache>
                <c:ptCount val="8"/>
                <c:pt idx="0">
                  <c:v>TS-RAG</c:v>
                </c:pt>
                <c:pt idx="1">
                  <c:v>Chronos-Bolt</c:v>
                </c:pt>
                <c:pt idx="2">
                  <c:v>MOMENT</c:v>
                </c:pt>
                <c:pt idx="3">
                  <c:v>TTM</c:v>
                </c:pt>
                <c:pt idx="4">
                  <c:v>Moirai</c:v>
                </c:pt>
                <c:pt idx="5">
                  <c:v>TimesFM</c:v>
                </c:pt>
                <c:pt idx="6">
                  <c:v>Chronos</c:v>
                </c:pt>
                <c:pt idx="7">
                  <c:v>Time-MoE</c:v>
                </c:pt>
              </c:strCache>
            </c:strRef>
          </c:cat>
          <c:val>
            <c:numRef>
              <c:f>Sheet1!$B$5:$I$5</c:f>
              <c:numCache>
                <c:formatCode>General</c:formatCode>
                <c:ptCount val="8"/>
                <c:pt idx="0">
                  <c:v>0.29060000000000002</c:v>
                </c:pt>
                <c:pt idx="1">
                  <c:v>0.31090000000000001</c:v>
                </c:pt>
                <c:pt idx="2">
                  <c:v>0.35060000000000002</c:v>
                </c:pt>
                <c:pt idx="3">
                  <c:v>0.31519999999999998</c:v>
                </c:pt>
                <c:pt idx="4">
                  <c:v>0.53990000000000005</c:v>
                </c:pt>
                <c:pt idx="5">
                  <c:v>0.33210000000000001</c:v>
                </c:pt>
                <c:pt idx="6">
                  <c:v>0.39350000000000002</c:v>
                </c:pt>
                <c:pt idx="7">
                  <c:v>0.32129999999999997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79-4A3E-A376-A9CC7B0CF1A1}"/>
            </c:ext>
          </c:extLst>
        </c:ser>
        <c:ser>
          <c:idx val="3"/>
          <c:order val="3"/>
          <c:tx>
            <c:strRef>
              <c:f>Sheet1!$A$6</c:f>
              <c:strCache>
                <c:ptCount val="1"/>
                <c:pt idx="0">
                  <c:v>ETTm2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Sheet1!$B$2:$I$2</c:f>
              <c:strCache>
                <c:ptCount val="8"/>
                <c:pt idx="0">
                  <c:v>TS-RAG</c:v>
                </c:pt>
                <c:pt idx="1">
                  <c:v>Chronos-Bolt</c:v>
                </c:pt>
                <c:pt idx="2">
                  <c:v>MOMENT</c:v>
                </c:pt>
                <c:pt idx="3">
                  <c:v>TTM</c:v>
                </c:pt>
                <c:pt idx="4">
                  <c:v>Moirai</c:v>
                </c:pt>
                <c:pt idx="5">
                  <c:v>TimesFM</c:v>
                </c:pt>
                <c:pt idx="6">
                  <c:v>Chronos</c:v>
                </c:pt>
                <c:pt idx="7">
                  <c:v>Time-MoE</c:v>
                </c:pt>
              </c:strCache>
            </c:strRef>
          </c:cat>
          <c:val>
            <c:numRef>
              <c:f>Sheet1!$B$6:$I$6</c:f>
              <c:numCache>
                <c:formatCode>General</c:formatCode>
                <c:ptCount val="8"/>
                <c:pt idx="0">
                  <c:v>0.14660000000000001</c:v>
                </c:pt>
                <c:pt idx="1">
                  <c:v>0.1487</c:v>
                </c:pt>
                <c:pt idx="2">
                  <c:v>0.17030000000000001</c:v>
                </c:pt>
                <c:pt idx="3">
                  <c:v>0.15110000000000001</c:v>
                </c:pt>
                <c:pt idx="4">
                  <c:v>0.1958</c:v>
                </c:pt>
                <c:pt idx="5">
                  <c:v>0.17030000000000001</c:v>
                </c:pt>
                <c:pt idx="6">
                  <c:v>0.1663</c:v>
                </c:pt>
                <c:pt idx="7">
                  <c:v>0.1565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179-4A3E-A376-A9CC7B0CF1A1}"/>
            </c:ext>
          </c:extLst>
        </c:ser>
        <c:ser>
          <c:idx val="4"/>
          <c:order val="4"/>
          <c:tx>
            <c:strRef>
              <c:f>Sheet1!$A$7</c:f>
              <c:strCache>
                <c:ptCount val="1"/>
                <c:pt idx="0">
                  <c:v>Weather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Sheet1!$B$2:$I$2</c:f>
              <c:strCache>
                <c:ptCount val="8"/>
                <c:pt idx="0">
                  <c:v>TS-RAG</c:v>
                </c:pt>
                <c:pt idx="1">
                  <c:v>Chronos-Bolt</c:v>
                </c:pt>
                <c:pt idx="2">
                  <c:v>MOMENT</c:v>
                </c:pt>
                <c:pt idx="3">
                  <c:v>TTM</c:v>
                </c:pt>
                <c:pt idx="4">
                  <c:v>Moirai</c:v>
                </c:pt>
                <c:pt idx="5">
                  <c:v>TimesFM</c:v>
                </c:pt>
                <c:pt idx="6">
                  <c:v>Chronos</c:v>
                </c:pt>
                <c:pt idx="7">
                  <c:v>Time-MoE</c:v>
                </c:pt>
              </c:strCache>
            </c:strRef>
          </c:cat>
          <c:val>
            <c:numRef>
              <c:f>Sheet1!$B$7:$I$7</c:f>
              <c:numCache>
                <c:formatCode>General</c:formatCode>
                <c:ptCount val="8"/>
                <c:pt idx="0">
                  <c:v>0.1454</c:v>
                </c:pt>
                <c:pt idx="1">
                  <c:v>0.1525</c:v>
                </c:pt>
                <c:pt idx="2">
                  <c:v>0.18010000000000001</c:v>
                </c:pt>
                <c:pt idx="3">
                  <c:v>0.15429999999999999</c:v>
                </c:pt>
                <c:pt idx="4">
                  <c:v>0.1711</c:v>
                </c:pt>
                <c:pt idx="6">
                  <c:v>0.18970000000000001</c:v>
                </c:pt>
                <c:pt idx="7">
                  <c:v>0.14899999999999999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179-4A3E-A376-A9CC7B0CF1A1}"/>
            </c:ext>
          </c:extLst>
        </c:ser>
        <c:ser>
          <c:idx val="5"/>
          <c:order val="5"/>
          <c:tx>
            <c:strRef>
              <c:f>Sheet1!$A$8</c:f>
              <c:strCache>
                <c:ptCount val="1"/>
                <c:pt idx="0">
                  <c:v>Electricity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Sheet1!$B$2:$I$2</c:f>
              <c:strCache>
                <c:ptCount val="8"/>
                <c:pt idx="0">
                  <c:v>TS-RAG</c:v>
                </c:pt>
                <c:pt idx="1">
                  <c:v>Chronos-Bolt</c:v>
                </c:pt>
                <c:pt idx="2">
                  <c:v>MOMENT</c:v>
                </c:pt>
                <c:pt idx="3">
                  <c:v>TTM</c:v>
                </c:pt>
                <c:pt idx="4">
                  <c:v>Moirai</c:v>
                </c:pt>
                <c:pt idx="5">
                  <c:v>TimesFM</c:v>
                </c:pt>
                <c:pt idx="6">
                  <c:v>Chronos</c:v>
                </c:pt>
                <c:pt idx="7">
                  <c:v>Time-MoE</c:v>
                </c:pt>
              </c:strCache>
            </c:strRef>
          </c:cat>
          <c:val>
            <c:numRef>
              <c:f>Sheet1!$B$8:$I$8</c:f>
              <c:numCache>
                <c:formatCode>General</c:formatCode>
                <c:ptCount val="8"/>
                <c:pt idx="0">
                  <c:v>0.112</c:v>
                </c:pt>
                <c:pt idx="1">
                  <c:v>0.1132</c:v>
                </c:pt>
                <c:pt idx="2">
                  <c:v>0.19670000000000001</c:v>
                </c:pt>
                <c:pt idx="3">
                  <c:v>0.17150000000000001</c:v>
                </c:pt>
                <c:pt idx="4">
                  <c:v>0.1832</c:v>
                </c:pt>
                <c:pt idx="6">
                  <c:v>0.14599999999999999</c:v>
                </c:pt>
                <c:pt idx="7">
                  <c:v>0.1137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179-4A3E-A376-A9CC7B0CF1A1}"/>
            </c:ext>
          </c:extLst>
        </c:ser>
        <c:ser>
          <c:idx val="6"/>
          <c:order val="6"/>
          <c:tx>
            <c:strRef>
              <c:f>Sheet1!$A$9</c:f>
              <c:strCache>
                <c:ptCount val="1"/>
                <c:pt idx="0">
                  <c:v>Exchange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Sheet1!$B$2:$I$2</c:f>
              <c:strCache>
                <c:ptCount val="8"/>
                <c:pt idx="0">
                  <c:v>TS-RAG</c:v>
                </c:pt>
                <c:pt idx="1">
                  <c:v>Chronos-Bolt</c:v>
                </c:pt>
                <c:pt idx="2">
                  <c:v>MOMENT</c:v>
                </c:pt>
                <c:pt idx="3">
                  <c:v>TTM</c:v>
                </c:pt>
                <c:pt idx="4">
                  <c:v>Moirai</c:v>
                </c:pt>
                <c:pt idx="5">
                  <c:v>TimesFM</c:v>
                </c:pt>
                <c:pt idx="6">
                  <c:v>Chronos</c:v>
                </c:pt>
                <c:pt idx="7">
                  <c:v>Time-MoE</c:v>
                </c:pt>
              </c:strCache>
            </c:strRef>
          </c:cat>
          <c:val>
            <c:numRef>
              <c:f>Sheet1!$B$9:$I$9</c:f>
              <c:numCache>
                <c:formatCode>General</c:formatCode>
                <c:ptCount val="8"/>
                <c:pt idx="0">
                  <c:v>6.2700000000000006E-2</c:v>
                </c:pt>
                <c:pt idx="1">
                  <c:v>6.7299999999999999E-2</c:v>
                </c:pt>
                <c:pt idx="2">
                  <c:v>9.7900000000000001E-2</c:v>
                </c:pt>
                <c:pt idx="3">
                  <c:v>6.5699999999999995E-2</c:v>
                </c:pt>
                <c:pt idx="4">
                  <c:v>6.6299999999999998E-2</c:v>
                </c:pt>
                <c:pt idx="5">
                  <c:v>6.9500000000000006E-2</c:v>
                </c:pt>
                <c:pt idx="6">
                  <c:v>8.3099999999999993E-2</c:v>
                </c:pt>
                <c:pt idx="7">
                  <c:v>8.5099999999999995E-2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179-4A3E-A376-A9CC7B0CF1A1}"/>
            </c:ext>
          </c:extLst>
        </c:ser>
        <c:ser>
          <c:idx val="7"/>
          <c:order val="7"/>
          <c:tx>
            <c:strRef>
              <c:f>Sheet1!$A$10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Sheet1!$B$2:$I$2</c:f>
              <c:strCache>
                <c:ptCount val="8"/>
                <c:pt idx="0">
                  <c:v>TS-RAG</c:v>
                </c:pt>
                <c:pt idx="1">
                  <c:v>Chronos-Bolt</c:v>
                </c:pt>
                <c:pt idx="2">
                  <c:v>MOMENT</c:v>
                </c:pt>
                <c:pt idx="3">
                  <c:v>TTM</c:v>
                </c:pt>
                <c:pt idx="4">
                  <c:v>Moirai</c:v>
                </c:pt>
                <c:pt idx="5">
                  <c:v>TimesFM</c:v>
                </c:pt>
                <c:pt idx="6">
                  <c:v>Chronos</c:v>
                </c:pt>
                <c:pt idx="7">
                  <c:v>Time-MoE</c:v>
                </c:pt>
              </c:strCache>
            </c:strRef>
          </c:cat>
          <c:val>
            <c:numRef>
              <c:f>Sheet1!$B$10:$I$10</c:f>
              <c:numCache>
                <c:formatCode>General</c:formatCode>
                <c:ptCount val="8"/>
                <c:pt idx="0">
                  <c:v>0.19400000000000001</c:v>
                </c:pt>
                <c:pt idx="1">
                  <c:v>0.20080000000000001</c:v>
                </c:pt>
                <c:pt idx="2">
                  <c:v>0.2374</c:v>
                </c:pt>
                <c:pt idx="3">
                  <c:v>0.2104</c:v>
                </c:pt>
                <c:pt idx="4">
                  <c:v>0.25419999999999998</c:v>
                </c:pt>
                <c:pt idx="6">
                  <c:v>0.23799999999999999</c:v>
                </c:pt>
                <c:pt idx="7">
                  <c:v>0.20569999999999999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179-4A3E-A376-A9CC7B0CF1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8691592"/>
        <c:axId val="987460616"/>
      </c:barChart>
      <c:catAx>
        <c:axId val="298691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7460616"/>
        <c:crosses val="autoZero"/>
        <c:auto val="1"/>
        <c:lblAlgn val="ctr"/>
        <c:lblOffset val="100"/>
        <c:noMultiLvlLbl val="0"/>
      </c:catAx>
      <c:valAx>
        <c:axId val="987460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8691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Sheet1!$A$14</c:f>
              <c:strCache>
                <c:ptCount val="1"/>
                <c:pt idx="0">
                  <c:v>Average MSE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Sheet1!$B$13:$C$13</c:f>
              <c:strCache>
                <c:ptCount val="2"/>
                <c:pt idx="0">
                  <c:v>TS-RAG</c:v>
                </c:pt>
                <c:pt idx="1">
                  <c:v>RAF</c:v>
                </c:pt>
              </c:strCache>
            </c:strRef>
          </c:cat>
          <c:val>
            <c:numRef>
              <c:f>Sheet1!$B$14:$C$14</c:f>
              <c:numCache>
                <c:formatCode>General</c:formatCode>
                <c:ptCount val="2"/>
                <c:pt idx="0">
                  <c:v>0.19400000000000001</c:v>
                </c:pt>
                <c:pt idx="1">
                  <c:v>0.23180000000000001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5E-4C27-AE06-CBF7D6199ACB}"/>
            </c:ext>
          </c:extLst>
        </c:ser>
        <c:ser>
          <c:idx val="1"/>
          <c:order val="1"/>
          <c:tx>
            <c:strRef>
              <c:f>Sheet1!$A$15</c:f>
              <c:strCache>
                <c:ptCount val="1"/>
                <c:pt idx="0">
                  <c:v>Average MAE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Sheet1!$B$13:$C$13</c:f>
              <c:strCache>
                <c:ptCount val="2"/>
                <c:pt idx="0">
                  <c:v>TS-RAG</c:v>
                </c:pt>
                <c:pt idx="1">
                  <c:v>RAF</c:v>
                </c:pt>
              </c:strCache>
            </c:strRef>
          </c:cat>
          <c:val>
            <c:numRef>
              <c:f>Sheet1!$B$15:$C$15</c:f>
              <c:numCache>
                <c:formatCode>General</c:formatCode>
                <c:ptCount val="2"/>
                <c:pt idx="0">
                  <c:v>0.2492</c:v>
                </c:pt>
                <c:pt idx="1">
                  <c:v>0.27379999999999999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5E-4C27-AE06-CBF7D6199A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0509448"/>
        <c:axId val="360511496"/>
      </c:barChart>
      <c:catAx>
        <c:axId val="360509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0511496"/>
        <c:crosses val="autoZero"/>
        <c:auto val="1"/>
        <c:lblAlgn val="ctr"/>
        <c:lblOffset val="100"/>
        <c:noMultiLvlLbl val="0"/>
      </c:catAx>
      <c:valAx>
        <c:axId val="360511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0509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4E06E-E5ED-48A5-9D5E-E1AAD3C6EB5E}" type="datetimeFigureOut"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0AA1C-A59A-4D57-AE60-B13F134F4FC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97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4F28A-A66E-7E1B-19B1-0388983BB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8B9EA-D24B-ECE3-E2A4-C17B63E25F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1D840-4607-C57E-0D19-8B7DC6AE6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TS-RAG and TS-RAG with retrieval are the same thing. Some people just like to add the "with retrieval" part for some reason. </a:t>
            </a:r>
            <a:r>
              <a:rPr lang="en-US"/>
              <a:t>TS-RAG necessarily has retrieval.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63DC0-EE5F-5682-C41E-5CFA3B88E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0AA1C-A59A-4D57-AE60-B13F134F4FC4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67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48BC-1D3C-7529-ACE8-105F6AD9D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3ABE2-8A02-46B0-D16E-DBFB46F3C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8B1AC-1322-FB9D-F624-0244A71EE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+mn-lt"/>
              </a:rPr>
              <a:t>Ablation: </a:t>
            </a:r>
            <a:r>
              <a:rPr lang="en-US" dirty="0"/>
              <a:t>Isolating specific components to determine their impact.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"TS-RAG" and "TS-RAG with retrieval" are the same thing. Some people just like to add the "with retrieval" part for some reason. </a:t>
            </a:r>
            <a:r>
              <a:rPr lang="en-US" dirty="0"/>
              <a:t>TS-RAG necessarily has retrieval.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76226-1020-F24B-1AE3-7E79877E3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0AA1C-A59A-4D57-AE60-B13F134F4FC4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42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692E4-6EFF-71A5-B5D4-6D81534CD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37804D-E0AF-6BD5-4352-3BFA37CA5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D7B8A-386F-61FE-6E6C-349F8811D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Gated Fusion is a type of augmentation method. An augmentation method is a way of adding extra information to a base model so it can perform better. In this paper’s context, it means the method used to inject the retrieved historical patterns into the backbone model.</a:t>
            </a:r>
            <a:endParaRPr lang="en-US"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US">
                <a:ea typeface="Calibri"/>
                <a:cs typeface="Calibri"/>
              </a:rPr>
              <a:t>In-domain retrieval knowledge base</a:t>
            </a:r>
            <a:r>
              <a:rPr lang="en-US"/>
              <a:t>: a retrieval database made from the same type of data as the test dataset. Example: test on ETTh1, retrieve from ETTh1 training data.</a:t>
            </a:r>
          </a:p>
          <a:p>
            <a:pPr marL="228600" indent="-228600">
              <a:buAutoNum type="arabicPeriod"/>
            </a:pPr>
            <a:r>
              <a:rPr lang="en-US" dirty="0"/>
              <a:t>In other words, when the model has to predict farther into the future, TS-RAG still performs better than the plain base model.</a:t>
            </a:r>
          </a:p>
          <a:p>
            <a:pPr marL="228600" indent="-228600">
              <a:buAutoNum type="arabicPeriod"/>
            </a:pPr>
            <a:r>
              <a:rPr lang="en-US" dirty="0">
                <a:ea typeface="Calibri"/>
                <a:cs typeface="Calibri"/>
              </a:rPr>
              <a:t> </a:t>
            </a:r>
          </a:p>
          <a:p>
            <a:r>
              <a:rPr lang="en-US" dirty="0">
                <a:ea typeface="Calibri"/>
                <a:cs typeface="Calibri"/>
              </a:rPr>
              <a:t> b.) </a:t>
            </a:r>
            <a:r>
              <a:rPr lang="en-US" dirty="0"/>
              <a:t>The method’s performance does not change very much depending on which retriever encoder you choose.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 c.) </a:t>
            </a:r>
            <a:r>
              <a:rPr lang="en-US"/>
              <a:t>Embedding-space retrieval &gt; DTW. Comparing learned vector representations (with Euclidean/cosine) worked better than matching raw time-series shapes with DTW.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en-US"/>
              <a:t> Retrieval distance metric: the category / design choice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 Euclidean, cosine, DTW: the specific metrics inside that category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CA388-C103-A121-07A8-59DC626B3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0AA1C-A59A-4D57-AE60-B13F134F4FC4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29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E5325-70E7-E2E2-39A0-45DC032E2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AC6A5-80F2-E7AF-42C6-597D6624F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3458A-D069-0DB5-5E54-F03DBE0AF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TS-RAG and TS-RAG with retrieval are the same thing. Some people just like to add the "with retrieval" part for some reason. </a:t>
            </a:r>
            <a:r>
              <a:rPr lang="en-US"/>
              <a:t>TS-RAG necessarily has retrieval.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853D8-05CA-8F2F-86A6-DE2B13C3E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0AA1C-A59A-4D57-AE60-B13F134F4FC4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91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52405-329C-4B8D-6839-88A31D104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5DFFAB-DCF6-8C4F-D820-3B7E158BC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EE127-5F4C-B17B-0D53-6648A796F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A08F-4CCB-FBB3-6818-3BB517AB9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0AA1C-A59A-4D57-AE60-B13F134F4FC4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434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EC156-6BD0-F203-9C94-FEDDA9EF6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410444"/>
          </a:xfrm>
        </p:spPr>
        <p:txBody>
          <a:bodyPr>
            <a:normAutofit/>
          </a:bodyPr>
          <a:lstStyle/>
          <a:p>
            <a:r>
              <a:rPr lang="en-US"/>
              <a:t>Literature Review</a:t>
            </a:r>
            <a:br>
              <a:rPr lang="en-US" dirty="0"/>
            </a:br>
            <a:br>
              <a:rPr lang="en-US" dirty="0"/>
            </a:br>
            <a:r>
              <a:rPr lang="en-US" sz="2000">
                <a:ea typeface="+mj-lt"/>
                <a:cs typeface="+mj-lt"/>
              </a:rPr>
              <a:t>TS-RAG: Retrieval-Augmented Generation based Time Series Foundation Models are Stronger Zero-Shot Forecaster</a:t>
            </a:r>
            <a:endParaRPr lang="en-US" sz="2000" dirty="0">
              <a:ea typeface="+mj-lt"/>
              <a:cs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288F24-E2BC-FCFF-3C3B-B23CDBD75A8E}"/>
              </a:ext>
            </a:extLst>
          </p:cNvPr>
          <p:cNvSpPr txBox="1"/>
          <p:nvPr/>
        </p:nvSpPr>
        <p:spPr>
          <a:xfrm>
            <a:off x="839492" y="4526797"/>
            <a:ext cx="6096000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Intelligent Systems - CSC 500</a:t>
            </a:r>
            <a:r>
              <a:rPr lang="en-US" sz="16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Dr. Sahoo</a:t>
            </a:r>
            <a:r>
              <a:rPr lang="en-US" sz="16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Quinnipiac University</a:t>
            </a:r>
            <a:r>
              <a:rPr lang="en-US" sz="16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April 21, 2026</a:t>
            </a:r>
            <a:r>
              <a:rPr lang="en-US" sz="16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6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Repo: </a:t>
            </a:r>
            <a:r>
              <a:rPr lang="en-US" sz="1600" b="0" i="1" u="none" strike="noStrike" baseline="0">
                <a:solidFill>
                  <a:srgbClr val="122BE3"/>
                </a:solidFill>
                <a:latin typeface="Aptos"/>
                <a:ea typeface="Segoe UI"/>
                <a:cs typeface="Segoe UI"/>
              </a:rPr>
              <a:t>https://github.com/UConn-DSIS/TS-RAG</a:t>
            </a:r>
            <a:r>
              <a:rPr lang="en-US" sz="16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9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298EA-3822-A62B-3D4A-BECF13673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Purpose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7AD396-5E8B-0620-A725-56453C5C2B34}"/>
              </a:ext>
            </a:extLst>
          </p:cNvPr>
          <p:cNvSpPr txBox="1"/>
          <p:nvPr/>
        </p:nvSpPr>
        <p:spPr>
          <a:xfrm>
            <a:off x="833887" y="1718094"/>
            <a:ext cx="106680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 goal of this paper</a:t>
            </a:r>
            <a:r>
              <a:rPr lang="en-US" dirty="0"/>
              <a:t> is to determine how zero-shot time series forecasting can be improved by retrieving similar historical time series patterns from a knowledge base and combining them with the current input before generating the forecast.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/>
              <a:t>In fewer words...</a:t>
            </a:r>
          </a:p>
          <a:p>
            <a:pPr lvl="1"/>
            <a:r>
              <a:rPr lang="en-US" dirty="0"/>
              <a:t>They are trying to improve time series forecasts by using similar past examples to provide extra context to the model, without altering the model i</a:t>
            </a:r>
            <a:r>
              <a:rPr lang="en-US"/>
              <a:t>tself.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52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5D078-4650-408F-35D7-3667888D5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D0D4B-ED0C-BD74-90C0-D667B65BA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What is being compared?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78BB2-50E6-6314-8823-ED48D25B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The paper compares </a:t>
            </a:r>
            <a:r>
              <a:rPr lang="en-US" sz="2000" b="1">
                <a:ea typeface="+mn-lt"/>
                <a:cs typeface="+mn-lt"/>
              </a:rPr>
              <a:t>TS-RAG</a:t>
            </a:r>
            <a:r>
              <a:rPr lang="en-US" sz="2000">
                <a:ea typeface="+mn-lt"/>
                <a:cs typeface="+mn-lt"/>
              </a:rPr>
              <a:t> against these existing </a:t>
            </a:r>
            <a:r>
              <a:rPr lang="en-US" sz="2000" b="1">
                <a:ea typeface="+mn-lt"/>
                <a:cs typeface="+mn-lt"/>
              </a:rPr>
              <a:t>TSFMs</a:t>
            </a:r>
            <a:r>
              <a:rPr lang="en-US" sz="2000" dirty="0">
                <a:ea typeface="+mn-lt"/>
                <a:cs typeface="+mn-lt"/>
              </a:rPr>
              <a:t>:</a:t>
            </a:r>
            <a:endParaRPr lang="en-US"/>
          </a:p>
          <a:p>
            <a:pPr lvl="1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Chronos-Bolt</a:t>
            </a:r>
            <a:endParaRPr lang="en-US" sz="2000"/>
          </a:p>
          <a:p>
            <a:pPr lvl="1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MOMENT</a:t>
            </a:r>
            <a:endParaRPr lang="en-US" sz="2000"/>
          </a:p>
          <a:p>
            <a:pPr lvl="1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TTM</a:t>
            </a:r>
            <a:endParaRPr lang="en-US" sz="2000"/>
          </a:p>
          <a:p>
            <a:pPr lvl="1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Moirai</a:t>
            </a:r>
            <a:endParaRPr lang="en-US" sz="2000"/>
          </a:p>
          <a:p>
            <a:pPr lvl="1">
              <a:buFont typeface="Arial"/>
              <a:buChar char="•"/>
            </a:pPr>
            <a:r>
              <a:rPr lang="en-US" sz="2000" err="1">
                <a:ea typeface="+mn-lt"/>
                <a:cs typeface="+mn-lt"/>
              </a:rPr>
              <a:t>TimesFM</a:t>
            </a:r>
            <a:endParaRPr lang="en-US" sz="2000"/>
          </a:p>
          <a:p>
            <a:pPr lvl="1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Chronos</a:t>
            </a:r>
            <a:endParaRPr lang="en-US" sz="2000"/>
          </a:p>
          <a:p>
            <a:pPr lvl="1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Time-</a:t>
            </a:r>
            <a:r>
              <a:rPr lang="en-US" sz="2000" dirty="0" err="1">
                <a:ea typeface="+mn-lt"/>
                <a:cs typeface="+mn-lt"/>
              </a:rPr>
              <a:t>MoE</a:t>
            </a:r>
            <a:endParaRPr lang="en-US" sz="2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/>
              <a:t>And </a:t>
            </a:r>
            <a:r>
              <a:rPr lang="en-US" sz="2000" b="1">
                <a:ea typeface="+mn-lt"/>
                <a:cs typeface="+mn-lt"/>
              </a:rPr>
              <a:t>RAF </a:t>
            </a:r>
            <a:r>
              <a:rPr lang="en-US" sz="2000" dirty="0">
                <a:ea typeface="+mn-lt"/>
                <a:cs typeface="+mn-lt"/>
              </a:rPr>
              <a:t>- another retrieval-based method (like TS-RAG).</a:t>
            </a:r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Datasets used in paper</a:t>
            </a:r>
          </a:p>
          <a:p>
            <a:pPr marL="457200" lvl="1">
              <a:buNone/>
            </a:pPr>
            <a:r>
              <a:rPr lang="en-US" sz="2000">
                <a:ea typeface="+mn-lt"/>
                <a:cs typeface="+mn-lt"/>
              </a:rPr>
              <a:t>ETTh1, ETTh2, ETTm1, ETTm2, Weather, Electricity, and Exchange Rate</a:t>
            </a:r>
            <a:endParaRPr lang="en-US" sz="2000"/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19410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7D513-17EB-3ADE-6947-571E38ECD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AD5B-5BB3-DAC0-D63E-B9A09FA57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Ablation Questions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6BB10-2828-1088-D274-562BF64C7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Ablation </a:t>
            </a:r>
            <a:r>
              <a:rPr lang="en-US" sz="2000" dirty="0">
                <a:ea typeface="+mn-lt"/>
                <a:cs typeface="+mn-lt"/>
              </a:rPr>
              <a:t>- Which component is responsible for the improvement?</a:t>
            </a:r>
            <a:endParaRPr lang="en-US" sz="2000"/>
          </a:p>
          <a:p>
            <a:pPr>
              <a:buNone/>
            </a:pPr>
            <a:endParaRPr lang="en-US" sz="20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The paper also tests several ablation questions</a:t>
            </a:r>
            <a:endParaRPr lang="en-US" sz="2000" b="1" dirty="0">
              <a:ea typeface="+mn-lt"/>
              <a:cs typeface="+mn-lt"/>
            </a:endParaRPr>
          </a:p>
          <a:p>
            <a:pPr marL="914400" lvl="1" indent="-457200">
              <a:buAutoNum type="arabicPeriod"/>
            </a:pPr>
            <a:r>
              <a:rPr lang="en-US" sz="2000">
                <a:ea typeface="+mn-lt"/>
                <a:cs typeface="+mn-lt"/>
              </a:rPr>
              <a:t>Is the </a:t>
            </a:r>
            <a:r>
              <a:rPr lang="en-US" sz="2000" b="1">
                <a:solidFill>
                  <a:srgbClr val="FF0000"/>
                </a:solidFill>
                <a:ea typeface="+mn-lt"/>
                <a:cs typeface="+mn-lt"/>
              </a:rPr>
              <a:t>ARM module </a:t>
            </a:r>
            <a:r>
              <a:rPr lang="en-US" sz="2000">
                <a:ea typeface="+mn-lt"/>
                <a:cs typeface="+mn-lt"/>
              </a:rPr>
              <a:t>better than a simpler augmentation method?</a:t>
            </a:r>
            <a:endParaRPr lang="en-US" sz="2000" dirty="0">
              <a:ea typeface="+mn-lt"/>
              <a:cs typeface="+mn-lt"/>
            </a:endParaRPr>
          </a:p>
          <a:p>
            <a:pPr marL="914400" lvl="1" indent="-457200">
              <a:buAutoNum type="arabicPeriod"/>
            </a:pPr>
            <a:r>
              <a:rPr lang="en-US" sz="2000">
                <a:ea typeface="+mn-lt"/>
                <a:cs typeface="+mn-lt"/>
              </a:rPr>
              <a:t>How do different '</a:t>
            </a:r>
            <a:r>
              <a:rPr lang="en-US" sz="2000" b="1">
                <a:solidFill>
                  <a:srgbClr val="FF0000"/>
                </a:solidFill>
                <a:ea typeface="+mn-lt"/>
                <a:cs typeface="+mn-lt"/>
              </a:rPr>
              <a:t>retrieval knowledge base</a:t>
            </a:r>
            <a:r>
              <a:rPr lang="en-US" sz="2000">
                <a:ea typeface="+mn-lt"/>
                <a:cs typeface="+mn-lt"/>
              </a:rPr>
              <a:t>' settings affect results?</a:t>
            </a:r>
            <a:endParaRPr lang="en-US" sz="2000" dirty="0">
              <a:ea typeface="+mn-lt"/>
              <a:cs typeface="+mn-lt"/>
            </a:endParaRPr>
          </a:p>
          <a:p>
            <a:pPr marL="914400" lvl="1" indent="-457200">
              <a:buAutoNum type="arabicPeriod"/>
            </a:pPr>
            <a:r>
              <a:rPr lang="en-US" sz="2000">
                <a:ea typeface="+mn-lt"/>
                <a:cs typeface="+mn-lt"/>
              </a:rPr>
              <a:t>How does performance change with different </a:t>
            </a:r>
            <a:r>
              <a:rPr lang="en-US" sz="2000" b="1">
                <a:solidFill>
                  <a:srgbClr val="FF0000"/>
                </a:solidFill>
                <a:ea typeface="+mn-lt"/>
                <a:cs typeface="+mn-lt"/>
              </a:rPr>
              <a:t>forecast horizons</a:t>
            </a:r>
            <a:r>
              <a:rPr lang="en-US" sz="2000">
                <a:ea typeface="+mn-lt"/>
                <a:cs typeface="+mn-lt"/>
              </a:rPr>
              <a:t>?</a:t>
            </a:r>
            <a:endParaRPr lang="en-US" sz="2000" dirty="0">
              <a:ea typeface="+mn-lt"/>
              <a:cs typeface="+mn-lt"/>
            </a:endParaRPr>
          </a:p>
          <a:p>
            <a:pPr marL="914400" lvl="1" indent="-457200">
              <a:buAutoNum type="arabicPeriod"/>
            </a:pPr>
            <a:r>
              <a:rPr lang="en-US" sz="2000">
                <a:ea typeface="+mn-lt"/>
                <a:cs typeface="+mn-lt"/>
              </a:rPr>
              <a:t>How sensitive is the method to the number of:</a:t>
            </a:r>
            <a:endParaRPr lang="en-US" sz="2000" dirty="0">
              <a:ea typeface="+mn-lt"/>
              <a:cs typeface="+mn-lt"/>
            </a:endParaRPr>
          </a:p>
          <a:p>
            <a:pPr marL="914400" lvl="2" indent="0">
              <a:buNone/>
            </a:pPr>
            <a:r>
              <a:rPr lang="en-US">
                <a:ea typeface="+mn-lt"/>
                <a:cs typeface="+mn-lt"/>
              </a:rPr>
              <a:t>a.) retrieved </a:t>
            </a:r>
            <a:r>
              <a:rPr lang="en-US" b="1">
                <a:solidFill>
                  <a:srgbClr val="FF0000"/>
                </a:solidFill>
                <a:ea typeface="+mn-lt"/>
                <a:cs typeface="+mn-lt"/>
              </a:rPr>
              <a:t>sequences</a:t>
            </a:r>
          </a:p>
          <a:p>
            <a:pPr marL="914400" lvl="2" indent="0">
              <a:buNone/>
            </a:pPr>
            <a:r>
              <a:rPr lang="en-US">
                <a:ea typeface="+mn-lt"/>
                <a:cs typeface="+mn-lt"/>
              </a:rPr>
              <a:t>b.) retriever </a:t>
            </a:r>
            <a:r>
              <a:rPr lang="en-US" b="1">
                <a:solidFill>
                  <a:srgbClr val="FF0000"/>
                </a:solidFill>
                <a:ea typeface="+mn-lt"/>
                <a:cs typeface="+mn-lt"/>
              </a:rPr>
              <a:t>encoder</a:t>
            </a:r>
          </a:p>
          <a:p>
            <a:pPr marL="914400" lvl="2" indent="0">
              <a:buNone/>
            </a:pPr>
            <a:r>
              <a:rPr lang="en-US">
                <a:ea typeface="+mn-lt"/>
                <a:cs typeface="+mn-lt"/>
              </a:rPr>
              <a:t>c.) retrieval </a:t>
            </a:r>
            <a:r>
              <a:rPr lang="en-US" b="1">
                <a:solidFill>
                  <a:srgbClr val="FF0000"/>
                </a:solidFill>
                <a:ea typeface="+mn-lt"/>
                <a:cs typeface="+mn-lt"/>
              </a:rPr>
              <a:t>distance metrics</a:t>
            </a:r>
          </a:p>
        </p:txBody>
      </p:sp>
    </p:spTree>
    <p:extLst>
      <p:ext uri="{BB962C8B-B14F-4D97-AF65-F5344CB8AC3E}">
        <p14:creationId xmlns:p14="http://schemas.microsoft.com/office/powerpoint/2010/main" val="4126159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DC44B-C9BC-BA17-7892-B70D98FC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1B939-1764-4875-C0FD-CB7135DD7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Ablation Results – this paper concludes that...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72D5F-2C93-C814-84D6-75796CD43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000">
                <a:ea typeface="+mn-lt"/>
                <a:cs typeface="+mn-lt"/>
              </a:rPr>
              <a:t>ARM beats gated fusion (a simpler augmentation method)</a:t>
            </a:r>
            <a:endParaRPr lang="en-US" sz="2000"/>
          </a:p>
          <a:p>
            <a:pPr marL="457200" indent="-457200">
              <a:buAutoNum type="arabicPeriod"/>
            </a:pPr>
            <a:r>
              <a:rPr lang="en-US" sz="2000">
                <a:ea typeface="+mn-lt"/>
                <a:cs typeface="+mn-lt"/>
              </a:rPr>
              <a:t>All retrieval knowledge base settings help, but in-domain works best</a:t>
            </a:r>
            <a:endParaRPr lang="en-US" sz="2000"/>
          </a:p>
          <a:p>
            <a:pPr marL="457200" indent="-457200">
              <a:buAutoNum type="arabicPeriod"/>
            </a:pPr>
            <a:r>
              <a:rPr lang="en-US" sz="2000">
                <a:ea typeface="+mn-lt"/>
                <a:cs typeface="+mn-lt"/>
              </a:rPr>
              <a:t>TS-RAG stays stronger than the backbone at longer horizons</a:t>
            </a:r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4.</a:t>
            </a:r>
            <a:endParaRPr lang="en-US" sz="2000" dirty="0">
              <a:ea typeface="+mn-lt"/>
              <a:cs typeface="+mn-lt"/>
            </a:endParaRPr>
          </a:p>
          <a:p>
            <a:pPr marL="457200" lvl="1" indent="0">
              <a:buNone/>
            </a:pPr>
            <a:r>
              <a:rPr lang="en-US" sz="2000">
                <a:ea typeface="+mn-lt"/>
                <a:cs typeface="+mn-lt"/>
              </a:rPr>
              <a:t>a.) A moderate number of retrieved sequences works best</a:t>
            </a:r>
            <a:endParaRPr lang="en-US" sz="2000" dirty="0">
              <a:ea typeface="+mn-lt"/>
              <a:cs typeface="+mn-lt"/>
            </a:endParaRPr>
          </a:p>
          <a:p>
            <a:pPr marL="457200" lvl="1" indent="0">
              <a:buNone/>
            </a:pPr>
            <a:r>
              <a:rPr lang="en-US" sz="2000" dirty="0">
                <a:ea typeface="+mn-lt"/>
                <a:cs typeface="+mn-lt"/>
              </a:rPr>
              <a:t>b.) Results are fairly robust to encoder choice</a:t>
            </a:r>
            <a:endParaRPr lang="en-US" sz="2000"/>
          </a:p>
          <a:p>
            <a:pPr marL="457200" lvl="1" indent="0">
              <a:buNone/>
            </a:pPr>
            <a:r>
              <a:rPr lang="en-US" sz="2000" dirty="0">
                <a:ea typeface="+mn-lt"/>
                <a:cs typeface="+mn-lt"/>
              </a:rPr>
              <a:t>c.) The model performed better when it used more "modern" similarity matching methods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  (i.e. Euclidean/cosine) instead of the older DTW method.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33806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878A0A-249C-3311-6F2E-04D102FA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TS-RAG vs select TSFMs (MSE)</a:t>
            </a:r>
            <a:endParaRPr lang="en-US" sz="400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5ECA219-8828-6F1D-1A6A-53104E0A86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4609116"/>
              </p:ext>
            </p:extLst>
          </p:nvPr>
        </p:nvGraphicFramePr>
        <p:xfrm>
          <a:off x="151460" y="1498913"/>
          <a:ext cx="11891492" cy="4978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F763EF0-B1E0-6512-DC25-877FA8AAF7F0}"/>
              </a:ext>
            </a:extLst>
          </p:cNvPr>
          <p:cNvSpPr/>
          <p:nvPr/>
        </p:nvSpPr>
        <p:spPr>
          <a:xfrm>
            <a:off x="153088" y="2848332"/>
            <a:ext cx="1785249" cy="33893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15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105F9-7740-AD5C-C42D-78FAF81D3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169EA00-B95E-CA79-92A3-60C7D4624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solidFill>
                  <a:srgbClr val="000000"/>
                </a:solidFill>
                <a:highlight>
                  <a:srgbClr val="FFFFFF"/>
                </a:highlight>
                <a:latin typeface="Aptos Display"/>
                <a:ea typeface="+mj-lt"/>
                <a:cs typeface="+mj-lt"/>
              </a:rPr>
              <a:t>TS-RAG vs RAF - comparing 2 retrieval methods</a:t>
            </a:r>
            <a:endParaRPr lang="en-US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F58EE28-22FF-88CE-F9F6-5024F1B5A91D}"/>
              </a:ext>
              <a:ext uri="{147F2762-F138-4A5C-976F-8EAC2B608ADB}">
                <a16:predDERef xmlns:a16="http://schemas.microsoft.com/office/drawing/2014/main" pred="{45ECA219-8828-6F1D-1A6A-53104E0A86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5711554"/>
              </p:ext>
            </p:extLst>
          </p:nvPr>
        </p:nvGraphicFramePr>
        <p:xfrm>
          <a:off x="380328" y="1534193"/>
          <a:ext cx="8106715" cy="4961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6E9FB5-A5A6-0E15-FABB-93844F16BBBC}"/>
              </a:ext>
            </a:extLst>
          </p:cNvPr>
          <p:cNvSpPr txBox="1"/>
          <p:nvPr/>
        </p:nvSpPr>
        <p:spPr>
          <a:xfrm>
            <a:off x="9068872" y="3429000"/>
            <a:ext cx="250064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Lower is better: TS-RAG outperforms RAF in MSE and MAE.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431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8D356-BFBE-F07F-B547-C538066E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BAF2-64C4-BAC4-4D32-B7AE4DDD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Conclusion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42725-C052-FB87-F143-9B67CCC335D5}"/>
              </a:ext>
            </a:extLst>
          </p:cNvPr>
          <p:cNvSpPr txBox="1"/>
          <p:nvPr/>
        </p:nvSpPr>
        <p:spPr>
          <a:xfrm>
            <a:off x="837127" y="1690352"/>
            <a:ext cx="1012064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dirty="0"/>
          </a:p>
          <a:p>
            <a:r>
              <a:rPr lang="en-US" sz="2000" dirty="0"/>
              <a:t>This paper successfully demonstrates that </a:t>
            </a:r>
            <a:r>
              <a:rPr lang="en-US" sz="2000" b="1" dirty="0">
                <a:solidFill>
                  <a:srgbClr val="FF0000"/>
                </a:solidFill>
              </a:rPr>
              <a:t>retrieval </a:t>
            </a:r>
            <a:r>
              <a:rPr lang="en-US" sz="2000" dirty="0"/>
              <a:t>can make time-series foundation models better zero-shot forecasters.</a:t>
            </a:r>
            <a:endParaRPr lang="en-US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By combining a base model with </a:t>
            </a:r>
            <a:r>
              <a:rPr lang="en-US" sz="2000" b="1" dirty="0">
                <a:solidFill>
                  <a:srgbClr val="FF0000"/>
                </a:solidFill>
              </a:rPr>
              <a:t>retrieved historical patterns</a:t>
            </a:r>
            <a:r>
              <a:rPr lang="en-US" sz="2000" dirty="0"/>
              <a:t>, TS-RAG improves both accuracy and interpretability across several diverse datasets, as can be observed in the following diagrams.</a:t>
            </a:r>
            <a:endParaRPr lang="en-US" dirty="0"/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2795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326BF-F673-CDC1-8451-6912D31B4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19E83-C339-5926-CBB7-5F8856BF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Citations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ACAF8-E678-6ADF-95A8-B93CA527F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 dirty="0"/>
              <a:t>[1] </a:t>
            </a:r>
            <a:r>
              <a:rPr lang="en-US" sz="1700" dirty="0">
                <a:ea typeface="+mn-lt"/>
                <a:cs typeface="+mn-lt"/>
              </a:rPr>
              <a:t>K. Ning, Z. Pan, Y. Liu, Y. Jiang, J. Y. Zhang, K. Rasul, A. Schneider, L. Ma, Y. </a:t>
            </a:r>
            <a:r>
              <a:rPr lang="en-US" sz="1700" dirty="0" err="1">
                <a:ea typeface="+mn-lt"/>
                <a:cs typeface="+mn-lt"/>
              </a:rPr>
              <a:t>Nevmyvaka</a:t>
            </a:r>
            <a:r>
              <a:rPr lang="en-US" sz="1700" dirty="0">
                <a:ea typeface="+mn-lt"/>
                <a:cs typeface="+mn-lt"/>
              </a:rPr>
              <a:t>, and D. Song, “TS-RAG: Retrieval-Augmented Generation based Time Series Foundation Models are Stronger Zero-Shot Forecaster,” </a:t>
            </a:r>
            <a:r>
              <a:rPr lang="en-US" sz="1700" dirty="0" err="1">
                <a:ea typeface="+mn-lt"/>
                <a:cs typeface="+mn-lt"/>
              </a:rPr>
              <a:t>arXiv</a:t>
            </a:r>
            <a:r>
              <a:rPr lang="en-US" sz="1700" dirty="0">
                <a:ea typeface="+mn-lt"/>
                <a:cs typeface="+mn-lt"/>
              </a:rPr>
              <a:t> preprint arXiv:2503.07649, 2025.</a:t>
            </a:r>
          </a:p>
          <a:p>
            <a:pPr marL="0" indent="0">
              <a:buNone/>
            </a:pPr>
            <a:r>
              <a:rPr lang="en-US" sz="1700">
                <a:ea typeface="+mn-lt"/>
                <a:cs typeface="+mn-lt"/>
              </a:rPr>
              <a:t>[2] UConn-DSIS, “TS-RAG: Retrieval-Augmented Generation based Time Series Foundation Models are Stronger Zero-Shot Forecaster,” GitHub repository. [Online]. Available: https://github.com/UConn-DSIS/TS-RAG. [Accessed: Apr. 20, 2026].</a:t>
            </a:r>
            <a:endParaRPr lang="en-US" sz="17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3777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Literature Review  TS-RAG: Retrieval-Augmented Generation based Time Series Foundation Models are Stronger Zero-Shot Forecaster</vt:lpstr>
      <vt:lpstr>Purpose</vt:lpstr>
      <vt:lpstr>What is being compared?</vt:lpstr>
      <vt:lpstr>Ablation Questions</vt:lpstr>
      <vt:lpstr>Ablation Results – this paper concludes that...</vt:lpstr>
      <vt:lpstr>TS-RAG vs select TSFMs (MSE)</vt:lpstr>
      <vt:lpstr>TS-RAG vs RAF - comparing 2 retrieval methods</vt:lpstr>
      <vt:lpstr>Conclusion</vt:lpstr>
      <vt:lpstr>Citations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770</cp:revision>
  <dcterms:created xsi:type="dcterms:W3CDTF">2026-03-24T23:51:18Z</dcterms:created>
  <dcterms:modified xsi:type="dcterms:W3CDTF">2026-04-23T03:19:52Z</dcterms:modified>
</cp:coreProperties>
</file>